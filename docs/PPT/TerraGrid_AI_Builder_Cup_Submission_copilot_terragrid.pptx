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22C"/>
                </a:solidFill>
              </a:rPr>
              <a:t>AI BUILDER CUP · SUSTAINABILITY &amp; SOCIAL IMPACT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8671255" y="914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A93A3"/>
                </a:solidFill>
              </a:rPr>
              <a:t>Submission Deck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73736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TerraGrid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3063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BFD8D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Disaster Intelligence, End to End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DC"/>
                </a:solidFill>
              </a:rPr>
              <a:t>One connected lifecycle — Predict, Prepare, Respond, Recover — replacing four disconnected tools with a single auditable platform.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77240" y="4572000"/>
            <a:ext cx="457200" cy="457200"/>
          </a:xfrm>
          <a:prstGeom prst="ellipse">
            <a:avLst/>
          </a:prstGeom>
          <a:solidFill>
            <a:srgbClr val="5B647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371600" y="46360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Predict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880360" y="4572000"/>
            <a:ext cx="457200" cy="45720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474720" y="46360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Prepare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983480" y="4572000"/>
            <a:ext cx="457200" cy="457200"/>
          </a:xfrm>
          <a:prstGeom prst="ellipse">
            <a:avLst/>
          </a:prstGeom>
          <a:solidFill>
            <a:srgbClr val="E872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577840" y="46360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Respond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086600" y="4572000"/>
            <a:ext cx="457200" cy="457200"/>
          </a:xfrm>
          <a:prstGeom prst="ellipse">
            <a:avLst/>
          </a:prstGeom>
          <a:solidFill>
            <a:srgbClr val="5B647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0" y="46360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Recover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77240" y="5394960"/>
            <a:ext cx="10637215" cy="0"/>
          </a:xfrm>
          <a:prstGeom prst="line">
            <a:avLst/>
          </a:prstGeom>
          <a:noFill/>
          <a:ln w="12700">
            <a:solidFill>
              <a:srgbClr val="2B394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3"/>
                </a:solidFill>
              </a:rPr>
              <a:t>Team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5806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4F2"/>
                </a:solidFill>
              </a:rPr>
              <a:t>Sentinel AI — Sandesh Shinde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0" y="5532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3"/>
                </a:solidFill>
              </a:rPr>
              <a:t>Problem Statement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0" y="5806440"/>
            <a:ext cx="4556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2DC"/>
                </a:solidFill>
              </a:rPr>
              <a:t>Sustainability &amp; Social Impact — an AI-powered solution strengthening resilience and enabling more informed, sustainable decision-making.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ABOUT THE IDEA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TerraGrid — Disaster Intelligence, End to End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916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</a:rPr>
              <a:t>Full lifecycle: Predict → Prepare → Respond → Recover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77240" y="2148840"/>
            <a:ext cx="5135728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228600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</a:rPr>
              <a:t>The problem — detection isn't the gap. Coordination is.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743200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Natural disasters across APAC cost thousands of lives every year. Response today is siloed: meteorologists forecast in isolation, planners allocate resources days later, field responders lack real-time intel, and lessons never feed back into prevention.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005840" y="3886200"/>
            <a:ext cx="2293544" cy="777240"/>
          </a:xfrm>
          <a:prstGeom prst="roundRect">
            <a:avLst>
              <a:gd name="adj" fmla="val 9412"/>
            </a:avLst>
          </a:prstGeom>
          <a:solidFill>
            <a:srgbClr val="F7F7F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4050792"/>
            <a:ext cx="192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4434840"/>
            <a:ext cx="19277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Satellites &amp; sensors catch threats instantly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390824" y="3886200"/>
            <a:ext cx="2293544" cy="777240"/>
          </a:xfrm>
          <a:prstGeom prst="roundRect">
            <a:avLst>
              <a:gd name="adj" fmla="val 9412"/>
            </a:avLst>
          </a:prstGeom>
          <a:solidFill>
            <a:srgbClr val="F7F7F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573704" y="4050792"/>
            <a:ext cx="192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3573704" y="4434840"/>
            <a:ext cx="19277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in agency-specific tools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005840" y="4754880"/>
            <a:ext cx="2293544" cy="777240"/>
          </a:xfrm>
          <a:prstGeom prst="roundRect">
            <a:avLst>
              <a:gd name="adj" fmla="val 9412"/>
            </a:avLst>
          </a:prstGeom>
          <a:solidFill>
            <a:srgbClr val="F7F7F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188720" y="4919472"/>
            <a:ext cx="192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5303520"/>
            <a:ext cx="19277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assigned days too late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390824" y="4754880"/>
            <a:ext cx="2293544" cy="777240"/>
          </a:xfrm>
          <a:prstGeom prst="roundRect">
            <a:avLst>
              <a:gd name="adj" fmla="val 9412"/>
            </a:avLst>
          </a:prstGeom>
          <a:solidFill>
            <a:srgbClr val="F7F7F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573704" y="4919472"/>
            <a:ext cx="192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573704" y="5303520"/>
            <a:ext cx="19277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field intel or feedback loop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278728" y="2148840"/>
            <a:ext cx="5135728" cy="3657600"/>
          </a:xfrm>
          <a:prstGeom prst="roundRect">
            <a:avLst>
              <a:gd name="adj" fmla="val 2500"/>
            </a:avLst>
          </a:prstGeom>
          <a:solidFill>
            <a:srgbClr val="0F1B2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507328" y="2286000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F4F2"/>
                </a:solidFill>
              </a:rPr>
              <a:t>The solution — one connected lifecycle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507328" y="27889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472"/>
                </a:solidFill>
              </a:rPr>
              <a:t>01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964528" y="2788920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2"/>
                </a:solidFill>
              </a:rPr>
              <a:t>Predict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6964528" y="3044952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8D5"/>
                </a:solidFill>
              </a:rPr>
              <a:t>6-month early-warning signal from climate indicators — ENSO, seasonal rainfall outlook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6507328" y="353872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</a:rPr>
              <a:t>02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6964528" y="353872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2"/>
                </a:solidFill>
              </a:rPr>
              <a:t>Prepare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964528" y="3794760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8D5"/>
                </a:solidFill>
              </a:rPr>
              <a:t>AI-generated 7-day risk forecasts across 8 cities, preparedness checklists, and automated agency alert drafts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6507328" y="428853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722C"/>
                </a:solidFill>
              </a:rPr>
              <a:t>03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6964528" y="4288536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2"/>
                </a:solidFill>
              </a:rPr>
              <a:t>Respond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6964528" y="4544568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8D5"/>
                </a:solidFill>
              </a:rPr>
              <a:t>Live multi-hazard dashboard, Gemini-powered decision support, and evacuation-route pre-calculation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6507328" y="503834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472"/>
                </a:solidFill>
              </a:rPr>
              <a:t>04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6964528" y="5038344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2"/>
                </a:solidFill>
              </a:rPr>
              <a:t>Recover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6964528" y="5294376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8D5"/>
                </a:solidFill>
              </a:rPr>
              <a:t>Before/after satellite damage assessment and recovery-progress tracking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77240" y="589788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A5568"/>
                </a:solidFill>
              </a:rPr>
              <a:t>Every AI recommendation is logged — the data sources and model reasoning behind it are auditable, not a black box.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4-PHASE MODEL — HOW THE IDEA OPERATES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6-Month Signal To A 24-Hour Recovery Window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777240" y="1920240"/>
            <a:ext cx="2613584" cy="3749040"/>
          </a:xfrm>
          <a:prstGeom prst="roundRect">
            <a:avLst>
              <a:gd name="adj" fmla="val 2099"/>
            </a:avLst>
          </a:prstGeom>
          <a:solidFill>
            <a:srgbClr val="17243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41832" y="2084832"/>
            <a:ext cx="228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3A3"/>
                </a:solidFill>
              </a:rPr>
              <a:t>T - 6 MONTHS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377440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3F4F2"/>
                </a:solidFill>
              </a:rPr>
              <a:t>Predict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941832" y="2834640"/>
            <a:ext cx="2284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El Niño / La Niña signals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ENSO outlook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Rainfall anomalies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41832" y="5074920"/>
            <a:ext cx="2284400" cy="411480"/>
          </a:xfrm>
          <a:prstGeom prst="roundRect">
            <a:avLst>
              <a:gd name="adj" fmla="val 13333"/>
            </a:avLst>
          </a:prstGeom>
          <a:solidFill>
            <a:srgbClr val="2030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41832" y="5074920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472"/>
                </a:solidFill>
              </a:rPr>
              <a:t>Target band: 50–80%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454832" y="1920240"/>
            <a:ext cx="2613584" cy="3749040"/>
          </a:xfrm>
          <a:prstGeom prst="roundRect">
            <a:avLst>
              <a:gd name="adj" fmla="val 2099"/>
            </a:avLst>
          </a:prstGeom>
          <a:solidFill>
            <a:srgbClr val="17243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619424" y="2084832"/>
            <a:ext cx="228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3A3"/>
                </a:solidFill>
              </a:rPr>
              <a:t>T - 30 DAYS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3619424" y="2377440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3F4F2"/>
                </a:solidFill>
              </a:rPr>
              <a:t>Prepare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3619424" y="2834640"/>
            <a:ext cx="2284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Seasonal forecast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Regional risk baseline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Evacuation route planning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619424" y="5074920"/>
            <a:ext cx="2284400" cy="411480"/>
          </a:xfrm>
          <a:prstGeom prst="roundRect">
            <a:avLst>
              <a:gd name="adj" fmla="val 13333"/>
            </a:avLst>
          </a:prstGeom>
          <a:solidFill>
            <a:srgbClr val="20304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619424" y="5074920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7490"/>
                </a:solidFill>
              </a:rPr>
              <a:t>Target band: 70–90%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132424" y="1920240"/>
            <a:ext cx="2613584" cy="3749040"/>
          </a:xfrm>
          <a:prstGeom prst="roundRect">
            <a:avLst>
              <a:gd name="adj" fmla="val 2099"/>
            </a:avLst>
          </a:prstGeom>
          <a:solidFill>
            <a:srgbClr val="17243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297016" y="2084832"/>
            <a:ext cx="228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3A3"/>
                </a:solidFill>
              </a:rPr>
              <a:t>T - 24H TO NOW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297016" y="2377440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3F4F2"/>
                </a:solidFill>
              </a:rPr>
              <a:t>Respond</a:t>
            </a:r>
            <a:endParaRPr lang="en-US" sz="1900" dirty="0"/>
          </a:p>
        </p:txBody>
      </p:sp>
      <p:sp>
        <p:nvSpPr>
          <p:cNvPr id="23" name="Text 20"/>
          <p:cNvSpPr txBox="1"/>
          <p:nvPr/>
        </p:nvSpPr>
        <p:spPr>
          <a:xfrm>
            <a:off x="6297016" y="2834640"/>
            <a:ext cx="2284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Operational hazard forecast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Active incident monitoring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Live AI decision support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297016" y="5074920"/>
            <a:ext cx="2284400" cy="411480"/>
          </a:xfrm>
          <a:prstGeom prst="roundRect">
            <a:avLst>
              <a:gd name="adj" fmla="val 13333"/>
            </a:avLst>
          </a:prstGeom>
          <a:solidFill>
            <a:srgbClr val="20304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297016" y="5074920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22C"/>
                </a:solidFill>
              </a:rPr>
              <a:t>Target band: 85–99%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8810015" y="1920240"/>
            <a:ext cx="2613584" cy="3749040"/>
          </a:xfrm>
          <a:prstGeom prst="roundRect">
            <a:avLst>
              <a:gd name="adj" fmla="val 2099"/>
            </a:avLst>
          </a:prstGeom>
          <a:solidFill>
            <a:srgbClr val="17243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974607" y="2084832"/>
            <a:ext cx="228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3A3"/>
                </a:solidFill>
              </a:rPr>
              <a:t>T + 24 HOURS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974607" y="2377440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3F4F2"/>
                </a:solidFill>
              </a:rPr>
              <a:t>Recover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8974607" y="2834640"/>
            <a:ext cx="2284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Impact assessment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Damage tracking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Recovery planning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8974607" y="5074920"/>
            <a:ext cx="2284400" cy="411480"/>
          </a:xfrm>
          <a:prstGeom prst="roundRect">
            <a:avLst>
              <a:gd name="adj" fmla="val 13333"/>
            </a:avLst>
          </a:prstGeom>
          <a:solidFill>
            <a:srgbClr val="20304A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974607" y="5074920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472"/>
                </a:solidFill>
              </a:rPr>
              <a:t>Target band: 70–85%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77240" y="580644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3A3"/>
                </a:solidFill>
              </a:rPr>
              <a:t>Confidence bands are design targets for how the system should communicate certainty at each phase — not measured accuracy, since no formal accuracy benchmarking has been run yet (see Performance).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DIFFERENTIATION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Is TerraGrid Different?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77240" y="1737360"/>
            <a:ext cx="2556434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120" y="1901952"/>
            <a:ext cx="21906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/ USGS Dashboards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2286000"/>
            <a:ext cx="21906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&amp; earthquake detection only — no response coordination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470834" y="1737360"/>
            <a:ext cx="2556434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53714" y="1901952"/>
            <a:ext cx="21906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Forecasting Apps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653714" y="2286000"/>
            <a:ext cx="21906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only — no actionable planning or response integration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64428" y="1737360"/>
            <a:ext cx="2556434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47308" y="1901952"/>
            <a:ext cx="21906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Management Tools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347308" y="2286000"/>
            <a:ext cx="21906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Manual, spreadsheet-driven decisions with high latency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858021" y="1737360"/>
            <a:ext cx="2556434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040901" y="1901952"/>
            <a:ext cx="21906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Apps (Google Maps)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9040901" y="2286000"/>
            <a:ext cx="21906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point-to-point navigation — not disaster-aware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926080"/>
          <a:ext cx="106372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840480"/>
                <a:gridCol w="4206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FD8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TerraGrid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phase, usually response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lifecycle — Predict, Prepare, Respond, Recover — one platform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Intelligence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 raw data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AI-generated recommendations with confidence scoring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 box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of Truth — 4-layer data lineage (raw -&gt; validated -&gt; enriched -&gt; stored), plus every AI recommendation logged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Manual, single-channel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Automated, audience-tailored email — WhatsApp/SMS channels in progress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source, one tool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live data sources unified in one dashboard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Resilience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 silently on source outage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Automatic retry with backoff on failed sends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77240" y="617220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</a:rPr>
              <a:t>TerraGrid bridges the gap between raw data and actionable AI decision-making, with full operational resilience.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WILL IT SOLVE THE PROBLEM?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Hours To Minutes — Automating The Decision Pipeline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916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Decision-to-action today can take hours; preventable lives are lost to delayed information. TerraGrid automates the data-gathering and recommendation pipeline so the response team starts from a drafted plan, not a blank page.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" y="237744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0120" y="254203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Intelligence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292608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Auto-ingests 6 live data sources — NASA EONET, USGS, NOAA, GDACS, OpenWeatherMap, OpenStreetMap/Overpass — with zero manual data-gathering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383938" y="237744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66818" y="254203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Decision Support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566818" y="292608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 generates action timelines, preparedness checklists, and agency alert drafts with confidence scoring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7990637" y="237744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173517" y="254203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Evacuation Route Pre-Calc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173517" y="292608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OSRM road-network routing, with an automatic geodesic-distance fallback if the routing service is unreachable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77240" y="379476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60120" y="39593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Audience-Tailored Alerts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60120" y="434340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Tone-adapted email for farmers, hospitals, NGOs, and municipal corps — WhatsApp/SMS channels in progress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383938" y="379476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66818" y="39593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Logging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66818" y="434340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external API payload and Gemini response is saved as a timestamped, auditable record — never a black box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990637" y="379476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0F1B2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173517" y="39593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173517" y="434340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automated pipeline replaces hours of manual cross-referencing with one auditable dashboard.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77240" y="5257800"/>
            <a:ext cx="10637215" cy="1005840"/>
          </a:xfrm>
          <a:prstGeom prst="roundRect">
            <a:avLst>
              <a:gd name="adj" fmla="val 7273"/>
            </a:avLst>
          </a:prstGeom>
          <a:solidFill>
            <a:srgbClr val="FBEFE4"/>
          </a:solidFill>
          <a:ln w="12700">
            <a:solidFill>
              <a:srgbClr val="E8722C"/>
            </a:solidFill>
            <a:prstDash val="dash"/>
          </a:ln>
        </p:spPr>
      </p:sp>
      <p:sp>
        <p:nvSpPr>
          <p:cNvPr id="28" name="Text 25"/>
          <p:cNvSpPr txBox="1"/>
          <p:nvPr/>
        </p:nvSpPr>
        <p:spPr>
          <a:xfrm>
            <a:off x="1005840" y="53766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551B"/>
                </a:solidFill>
              </a:rPr>
              <a:t>EXPECTED IMPACT — ILLUSTRATIVE, NOT MEASURED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005840" y="5650992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4330"/>
                </a:solidFill>
              </a:rPr>
              <a:t>Directional only, based on the automation above — not from field trials or load testing: removing the manual data-gathering and first-draft-writing steps shortens decision time from hours toward minutes, and consolidates work that today spans several agency-specific tools into one dashboard.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Unique Selling Proposition (USP)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173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84"/>
                </a:solidFill>
              </a:rPr>
              <a:t>Six core differentiators that set TerraGrid apart from legacy disaster-tech point tools.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77240" y="192024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0120" y="210312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60120" y="2103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210312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Unified Lifecycle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251460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Connects Prepare and Respond today, with Predict and Recover planned next, into one continuous platform instead of four disconnected tools.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960120" y="342900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60120" y="342900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First integrated full-lifecycle platform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399178" y="192024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82058" y="210312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82058" y="2103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993538" y="210312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Action Recommendations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82058" y="251460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Gemini generates specific, confidence-scored instructions and alert drafts — not raw maps the responder has to interpret.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582058" y="342900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582058" y="342900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Turns data into actionable intelligence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021117" y="192024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03997" y="210312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203997" y="2103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615477" y="210312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Decision Lineage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203997" y="251460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Every recommendation keeps a full trail — data source → model reasoning → output — logged and inspectable, not a black box.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8203997" y="342900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203997" y="342900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Auditable, evidence-based response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77240" y="402336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60120" y="420624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960120" y="4206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1371600" y="420624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Resilient Routing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960120" y="461772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Evacuation routes are pre-calculated per incident via OSRM, with an automatic geodesic-distance fallback if the routing service fails.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960120" y="553212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960120" y="553212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Degrades gracefully, never silently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4399178" y="402336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582058" y="420624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582058" y="4206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4993538" y="420624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Audience-Aware Alerting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4582058" y="461772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Email messaging is tone-adapted per recipient — farmers, hospitals, NGOs, municipal corps — not one generic broadcast. WhatsApp/SMS channels are in progress.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4582058" y="553212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582058" y="553212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Zero-friction, audience-matched delivery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8021117" y="402336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203997" y="420624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8203997" y="4206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8615477" y="420624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Google Cloud Native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8203997" y="461772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Built on Vertex AI (Gemini 2.5 Flash), Google Earth Engine, and Cloud Run — a deployment target chosen for auto-scaling, ahead of production rollout.</a:t>
            </a:r>
            <a:endParaRPr lang="en-US" sz="950" dirty="0"/>
          </a:p>
        </p:txBody>
      </p:sp>
      <p:sp>
        <p:nvSpPr>
          <p:cNvPr id="48" name="Shape 45"/>
          <p:cNvSpPr/>
          <p:nvPr/>
        </p:nvSpPr>
        <p:spPr>
          <a:xfrm>
            <a:off x="8203997" y="553212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8203997" y="553212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Built for enterprise-grade scale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4300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 Offered By The Solution — Across The 4-Phase Model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77240" y="1600200"/>
            <a:ext cx="2330265" cy="4297680"/>
          </a:xfrm>
          <a:prstGeom prst="roundRect">
            <a:avLst>
              <a:gd name="adj" fmla="val 3139"/>
            </a:avLst>
          </a:prstGeom>
          <a:solidFill>
            <a:srgbClr val="FFFFFF"/>
          </a:solidFill>
          <a:ln w="12700">
            <a:solidFill>
              <a:srgbClr val="C7CCD4"/>
            </a:solidFill>
            <a:prstDash val="dash"/>
          </a:ln>
        </p:spPr>
      </p:sp>
      <p:sp>
        <p:nvSpPr>
          <p:cNvPr id="9" name="Text 6"/>
          <p:cNvSpPr txBox="1"/>
          <p:nvPr/>
        </p:nvSpPr>
        <p:spPr>
          <a:xfrm>
            <a:off x="905256" y="1719072"/>
            <a:ext cx="20742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6472"/>
                </a:solidFill>
              </a:rPr>
              <a:t>Predict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905256" y="1965960"/>
            <a:ext cx="207423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3A3"/>
                </a:solidFill>
              </a:rPr>
              <a:t>Designed, not yet built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905256" y="2258568"/>
            <a:ext cx="2074233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n-US" sz="900" dirty="0">
                <a:solidFill>
                  <a:srgbClr val="5B6472"/>
                </a:solidFill>
              </a:rPr>
              <a:t>Climate-signal dashboard — ENSO + seasonal rainfall outlook (NOAA, IMD)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n-US" sz="900" dirty="0">
                <a:solidFill>
                  <a:srgbClr val="5B6472"/>
                </a:solidFill>
              </a:rPr>
              <a:t>Regional risk baseline per district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n-US" sz="900" dirty="0">
                <a:solidFill>
                  <a:srgbClr val="5B6472"/>
                </a:solidFill>
              </a:rPr>
              <a:t>Historical disaster database for pattern matching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905256" y="5577840"/>
            <a:ext cx="20742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3A3"/>
                </a:solidFill>
              </a:rPr>
              <a:t>8 items scoped — see Future Development</a:t>
            </a:r>
            <a:endParaRPr lang="en-US" sz="780" dirty="0"/>
          </a:p>
        </p:txBody>
      </p:sp>
      <p:sp>
        <p:nvSpPr>
          <p:cNvPr id="13" name="Shape 10"/>
          <p:cNvSpPr/>
          <p:nvPr/>
        </p:nvSpPr>
        <p:spPr>
          <a:xfrm>
            <a:off x="3235521" y="1600200"/>
            <a:ext cx="2796318" cy="5029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4" name="Shape 11"/>
          <p:cNvSpPr/>
          <p:nvPr/>
        </p:nvSpPr>
        <p:spPr>
          <a:xfrm>
            <a:off x="3235521" y="1650492"/>
            <a:ext cx="2796318" cy="42473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363537" y="1737360"/>
            <a:ext cx="25402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490"/>
                </a:solidFill>
              </a:rPr>
              <a:t>Prepare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3363537" y="2057400"/>
            <a:ext cx="2540286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7-day risk forecast across 8 cities (OpenWeatherMap)</a:t>
            </a:r>
            <a:endParaRPr lang="en-US" sz="83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AI-generated risk-escalation timeline</a:t>
            </a:r>
            <a:endParaRPr lang="en-US" sz="83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Gemini-drafted preparedness checklists per agency</a:t>
            </a:r>
            <a:endParaRPr lang="en-US" sz="83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Audience-tailored alert drafts — farmers, hospitals, NGOs, municipal corps — dispatched via WhatsApp + email</a:t>
            </a:r>
            <a:endParaRPr lang="en-US" sz="83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Confidence-based alerting — real agreement-ratio math, not a fabricated score</a:t>
            </a:r>
            <a:endParaRPr lang="en-US" sz="83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Proactive evacuation-route pre-calculation (OSRM)</a:t>
            </a:r>
            <a:endParaRPr lang="en-US" sz="83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Source of Truth — forecast data-integrity audit</a:t>
            </a:r>
            <a:endParaRPr lang="en-US" sz="830" dirty="0"/>
          </a:p>
        </p:txBody>
      </p:sp>
      <p:sp>
        <p:nvSpPr>
          <p:cNvPr id="17" name="Shape 14"/>
          <p:cNvSpPr/>
          <p:nvPr/>
        </p:nvSpPr>
        <p:spPr>
          <a:xfrm>
            <a:off x="6159856" y="1600200"/>
            <a:ext cx="2796318" cy="50292"/>
          </a:xfrm>
          <a:prstGeom prst="rect">
            <a:avLst/>
          </a:prstGeom>
          <a:solidFill>
            <a:srgbClr val="E8722C"/>
          </a:solidFill>
          <a:ln/>
        </p:spPr>
      </p:sp>
      <p:sp>
        <p:nvSpPr>
          <p:cNvPr id="18" name="Shape 15"/>
          <p:cNvSpPr/>
          <p:nvPr/>
        </p:nvSpPr>
        <p:spPr>
          <a:xfrm>
            <a:off x="6159856" y="1650492"/>
            <a:ext cx="2796318" cy="42473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287872" y="1737360"/>
            <a:ext cx="25402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722C"/>
                </a:solidFill>
              </a:rPr>
              <a:t>Respond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287872" y="2057400"/>
            <a:ext cx="2540286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Interactive live incident map — Mapbox GL, evacuation zones</a:t>
            </a:r>
            <a:endParaRPr lang="en-US" sz="83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Gemini 2.5 Flash decision support with confidence scoring</a:t>
            </a:r>
            <a:endParaRPr lang="en-US" sz="83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Source of Truth — full incident data lineage, every AI output logged</a:t>
            </a:r>
            <a:endParaRPr lang="en-US" sz="83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Deterministic cascade &amp; resource optimizer (Hamilton apportionment, not AI-guessed)</a:t>
            </a:r>
            <a:endParaRPr lang="en-US" sz="83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Satellite image + Sentinel-1 SAR cross-validation</a:t>
            </a:r>
            <a:endParaRPr lang="en-US" sz="83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Impact scoring — Hazard + Exposure + Vulnerability (0–100)</a:t>
            </a:r>
            <a:endParaRPr lang="en-US" sz="83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Phased response timeline — Immediate / Urgent / Sustained</a:t>
            </a:r>
            <a:endParaRPr lang="en-US" sz="83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Causal chain explanation flowchart</a:t>
            </a:r>
            <a:endParaRPr lang="en-US" sz="830" dirty="0"/>
          </a:p>
        </p:txBody>
      </p:sp>
      <p:sp>
        <p:nvSpPr>
          <p:cNvPr id="21" name="Shape 18"/>
          <p:cNvSpPr/>
          <p:nvPr/>
        </p:nvSpPr>
        <p:spPr>
          <a:xfrm>
            <a:off x="9084190" y="1600200"/>
            <a:ext cx="2330265" cy="4297680"/>
          </a:xfrm>
          <a:prstGeom prst="roundRect">
            <a:avLst>
              <a:gd name="adj" fmla="val 3139"/>
            </a:avLst>
          </a:prstGeom>
          <a:solidFill>
            <a:srgbClr val="FFFFFF"/>
          </a:solidFill>
          <a:ln w="12700">
            <a:solidFill>
              <a:srgbClr val="C7CCD4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9212206" y="1719072"/>
            <a:ext cx="20742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6472"/>
                </a:solidFill>
              </a:rPr>
              <a:t>Recover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9212206" y="1965960"/>
            <a:ext cx="207423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3A3"/>
                </a:solidFill>
              </a:rPr>
              <a:t>Designed, not yet built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9212206" y="2258568"/>
            <a:ext cx="2074233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n-US" sz="900" dirty="0">
                <a:solidFill>
                  <a:srgbClr val="5B6472"/>
                </a:solidFill>
              </a:rPr>
              <a:t>Before/after satellite damage comparison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n-US" sz="900" dirty="0">
                <a:solidFill>
                  <a:srgbClr val="5B6472"/>
                </a:solidFill>
              </a:rPr>
              <a:t>Damage mapping + recovery priority sequencing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n-US" sz="900" dirty="0">
                <a:solidFill>
                  <a:srgbClr val="5B6472"/>
                </a:solidFill>
              </a:rPr>
              <a:t>Resource &amp; cost estimation for rebuilding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9212206" y="5577840"/>
            <a:ext cx="20742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3A3"/>
                </a:solidFill>
              </a:rPr>
              <a:t>12 items scoped — see Future Development</a:t>
            </a:r>
            <a:endParaRPr lang="en-US" sz="780" dirty="0"/>
          </a:p>
        </p:txBody>
      </p:sp>
      <p:sp>
        <p:nvSpPr>
          <p:cNvPr id="26" name="Text 23"/>
          <p:cNvSpPr txBox="1"/>
          <p:nvPr/>
        </p:nvSpPr>
        <p:spPr>
          <a:xfrm>
            <a:off x="777240" y="5989320"/>
            <a:ext cx="10637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i="1" dirty="0">
                <a:solidFill>
                  <a:srgbClr val="8A8470"/>
                </a:solidFill>
              </a:rPr>
              <a:t>Also built and running across every phase, shown live in the demo rather than listed per phase: 6-API live data fusion, real-time WebSocket updates, multi-language UI (vue-i18n). Predict and Recover have no functionality built yet — only Prepare and Respond are shipped today.</a:t>
            </a:r>
            <a:endParaRPr lang="en-US" sz="8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FLOW DIAGRAM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Disaster Lifecycle, As Built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77240" y="1691640"/>
            <a:ext cx="10637215" cy="4480560"/>
          </a:xfrm>
          <a:prstGeom prst="roundRect">
            <a:avLst>
              <a:gd name="adj" fmla="val 1633"/>
            </a:avLst>
          </a:prstGeom>
          <a:solidFill>
            <a:srgbClr val="F7F7F2"/>
          </a:solidFill>
          <a:ln/>
        </p:spPr>
      </p:sp>
      <p:pic>
        <p:nvPicPr>
          <p:cNvPr id="9" name="Image 1" descr="/home/claude/pptx-build/assets/efc5ace416bee97a84d8a2941dfa8329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14400" y="1828800"/>
            <a:ext cx="10362895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Architecture, As Deployed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77240" y="1691640"/>
            <a:ext cx="10637215" cy="4480560"/>
          </a:xfrm>
          <a:prstGeom prst="roundRect">
            <a:avLst>
              <a:gd name="adj" fmla="val 1633"/>
            </a:avLst>
          </a:prstGeom>
          <a:solidFill>
            <a:srgbClr val="F7F7F2"/>
          </a:solidFill>
          <a:ln/>
        </p:spPr>
      </p:sp>
      <p:pic>
        <p:nvPicPr>
          <p:cNvPr id="9" name="Image 1" descr="/home/claude/pptx-build/assets/d0fc448611146c1aa89d7aeca1c3ec3b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14400" y="1828800"/>
            <a:ext cx="10362895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Stack, Verified Against The Codebase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777240" y="187452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120" y="203911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242316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+ Vite · Pinia · Vue Router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Mapbox GL JS (live map)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live updates · vue-i18n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83938" y="187452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66818" y="203911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566818" y="242316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(Python 3.13)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SQLAlchemy + Alembic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APScheduler · WebSocket server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Truth — 4-layer data lineage (raw -&gt; validated -&gt; enriched -&gt; stored)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990637" y="187452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73517" y="203911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 — Google Cloud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173517" y="242316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— Gemini 2.5 Flash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support, risk analysis, alert drafting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Earth Engine — Sentinel-1 SAR flood detection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77240" y="356616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60120" y="37307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Evacuation Routing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960120" y="411480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OSRM road-network routing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geodesic-distance fallback on failure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383938" y="356616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66818" y="37307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4566818" y="411480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— Gmail SMTP, per-audience templates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(WAHA) built, self-hosted — not yet production-reliable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990637" y="356616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73517" y="37307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Data (6 sources)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8173517" y="411480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EONET · USGS · NOAA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GDACS · OpenWeatherMap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/ Overpass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777240" y="5349240"/>
            <a:ext cx="10637215" cy="868680"/>
          </a:xfrm>
          <a:prstGeom prst="roundRect">
            <a:avLst>
              <a:gd name="adj" fmla="val 7368"/>
            </a:avLst>
          </a:prstGeom>
          <a:solidFill>
            <a:srgbClr val="E9E7D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60120" y="5440680"/>
            <a:ext cx="504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In the codebase but dormant/unreliable in this prototype: Redis (caching), Pub/Sub (messaging), OSM/Overpass (frequently times out, fails gracefully).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187288" y="5440680"/>
            <a:ext cx="504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Deployment targets: Firebase Hosting (frontend) + Google Cloud Run (backend API) + Docker, CI via GitHub Actions — not yet deployed to production at submission time.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IMPLEMENTATION COST (OPTIONAL)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Mostly On Free &amp; Open Tiers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9164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Illustrative — based on public list pricing for each service, not an audited cost model. No formal cost analysis has been run.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94560"/>
          <a:ext cx="106372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103120"/>
                <a:gridCol w="4114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tier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NASA EONET, USGS, NOAA, GDACS, OpenWeatherMap, OSM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disaster &amp; weather APIs, no license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OSRM routing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(self-hosted)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Open-source routing engine, no per-call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Cloud Run, PostgreSQL hosting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Low, usage-based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Generous free tier, scales with traffic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Vertex AI — Gemini 2.5 Flash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Low, usage-based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tier is the low-cost Gemini model; billed per call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Earth Engine (Sentinel-1 SAR)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for this use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Non-commercial / research usage tier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Mapbox GL JS tiles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Covers prototype-level map-load volume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Gmail SMTP (email)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email account — no per-send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F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SNAPSHOTS OF THE PROTOTYPE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Screens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777240" y="1828800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FFFFFF"/>
          </a:solidFill>
          <a:ln w="9525">
            <a:solidFill>
              <a:srgbClr val="DEDCC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50392" y="1901952"/>
            <a:ext cx="3247034" cy="2834640"/>
          </a:xfrm>
          <a:prstGeom prst="rect">
            <a:avLst/>
          </a:prstGeom>
          <a:solidFill>
            <a:srgbClr val="E3E1D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50392" y="1901952"/>
            <a:ext cx="324703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684"/>
                </a:solidFill>
              </a:rPr>
              <a:t>[ Dashboard screenshot ]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484632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</a:rPr>
              <a:t>Dashboard — real-time situational awareness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99178" y="1828800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FFFFFF"/>
          </a:solidFill>
          <a:ln w="9525">
            <a:solidFill>
              <a:srgbClr val="DEDCC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2330" y="1901952"/>
            <a:ext cx="3247034" cy="2834640"/>
          </a:xfrm>
          <a:prstGeom prst="rect">
            <a:avLst/>
          </a:prstGeom>
          <a:solidFill>
            <a:srgbClr val="E3E1D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472330" y="1901952"/>
            <a:ext cx="324703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684"/>
                </a:solidFill>
              </a:rPr>
              <a:t>[ Prepare screenshot ]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36338" y="484632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</a:rPr>
              <a:t>Prepare — 7-day risk forecasting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021117" y="1828800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FFFFFF"/>
          </a:solidFill>
          <a:ln w="9525">
            <a:solidFill>
              <a:srgbClr val="DEDCC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94269" y="1901952"/>
            <a:ext cx="3247034" cy="2834640"/>
          </a:xfrm>
          <a:prstGeom prst="rect">
            <a:avLst/>
          </a:prstGeom>
          <a:solidFill>
            <a:srgbClr val="E3E1D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094269" y="1901952"/>
            <a:ext cx="324703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684"/>
                </a:solidFill>
              </a:rPr>
              <a:t>[ Respond screenshot ]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158277" y="484632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22C"/>
                </a:solidFill>
              </a:rPr>
              <a:t>Respond — live incident command center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557784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470"/>
                </a:solidFill>
              </a:rPr>
              <a:t>Placeholders only — replace each panel with a real screenshot from the running prototype before presenting.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&amp; VALIDATION STATUS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Already Resilient vs. What's Left To Measure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459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Left: resilience mechanisms that exist in the code today, checked directly against the source. Right: the formal testing not yet run — scoped honestly instead of filled with invented numbers.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77240" y="2286000"/>
            <a:ext cx="5181448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24231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</a:rPr>
              <a:t>Built into the code today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880360"/>
            <a:ext cx="472424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3A4452"/>
                </a:solidFill>
              </a:rPr>
              <a:t>OSRM routing falls back to geodesic distance automatically on failure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3A4452"/>
                </a:solidFill>
              </a:rPr>
              <a:t>Alert sends retry with backoff instead of failing silently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3A4452"/>
                </a:solidFill>
              </a:rPr>
              <a:t>WebSocket push keeps the dashboard live without manual refresh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3A4452"/>
                </a:solidFill>
              </a:rPr>
              <a:t>Every API call and Gemini response is logged as a timestamped, inspectable record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33008" y="2286000"/>
            <a:ext cx="5181448" cy="3566160"/>
          </a:xfrm>
          <a:prstGeom prst="roundRect">
            <a:avLst>
              <a:gd name="adj" fmla="val 2051"/>
            </a:avLst>
          </a:prstGeom>
          <a:solidFill>
            <a:srgbClr val="FBEFE4"/>
          </a:solidFill>
          <a:ln w="12700">
            <a:solidFill>
              <a:srgbClr val="E8722C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6461608" y="24231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551B"/>
                </a:solidFill>
              </a:rPr>
              <a:t>Not yet measured — planned before launch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461608" y="2880360"/>
            <a:ext cx="472424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⚠"/>
            </a:pPr>
            <a:r>
              <a:rPr lang="en-US" sz="1200" dirty="0">
                <a:solidFill>
                  <a:srgbClr val="5C4330"/>
                </a:solidFill>
              </a:rPr>
              <a:t>Formal load testing (e.g. JMeter) under concurrent users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⚠"/>
            </a:pPr>
            <a:r>
              <a:rPr lang="en-US" sz="1200" dirty="0">
                <a:solidFill>
                  <a:srgbClr val="5C4330"/>
                </a:solidFill>
              </a:rPr>
              <a:t>Security scanning (e.g. OWASP ZAP) and a penetration pass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⚠"/>
            </a:pPr>
            <a:r>
              <a:rPr lang="en-US" sz="1200" dirty="0">
                <a:solidFill>
                  <a:srgbClr val="5C4330"/>
                </a:solidFill>
              </a:rPr>
              <a:t>Measured uptime and Gemini decision-support accuracy against ground truth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461608" y="5120640"/>
            <a:ext cx="4724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4330"/>
                </a:solidFill>
              </a:rPr>
              <a:t>We'd rather report these honestly as not-yet-run than publish invented benchmark numbers.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DETAILS / FUTURE DEVELOPMENT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77240" y="1783080"/>
            <a:ext cx="5204308" cy="1005840"/>
          </a:xfrm>
          <a:prstGeom prst="roundRect">
            <a:avLst>
              <a:gd name="adj" fmla="val 7273"/>
            </a:avLst>
          </a:prstGeom>
          <a:solidFill>
            <a:srgbClr val="17243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1947672"/>
            <a:ext cx="48385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phase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2331720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6-month early-warning signal from climate indicators — ENSO, seasonal rainfall outlook — surfaced on a climate-signal dashboard.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10148" y="1783080"/>
            <a:ext cx="5204308" cy="1005840"/>
          </a:xfrm>
          <a:prstGeom prst="roundRect">
            <a:avLst>
              <a:gd name="adj" fmla="val 7273"/>
            </a:avLst>
          </a:prstGeom>
          <a:solidFill>
            <a:srgbClr val="17243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93028" y="1947672"/>
            <a:ext cx="48385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phase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393028" y="2331720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satellite damage assessment and recovery-milestone tracking once an incident stabilizes.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77240" y="2971800"/>
            <a:ext cx="2535860" cy="1463040"/>
          </a:xfrm>
          <a:prstGeom prst="roundRect">
            <a:avLst>
              <a:gd name="adj" fmla="val 5000"/>
            </a:avLst>
          </a:prstGeom>
          <a:solidFill>
            <a:srgbClr val="17243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60120" y="3136392"/>
            <a:ext cx="2170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ENSO + Seasonal Outlook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3520440"/>
            <a:ext cx="21701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near-term: NOAA CPC El Niño/La Niña monitoring, seasonal rainfall outlook, and a climate-signal dashboard.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3477692" y="2971800"/>
            <a:ext cx="2535860" cy="1463040"/>
          </a:xfrm>
          <a:prstGeom prst="roundRect">
            <a:avLst>
              <a:gd name="adj" fmla="val 5000"/>
            </a:avLst>
          </a:prstGeom>
          <a:solidFill>
            <a:srgbClr val="17243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660572" y="3136392"/>
            <a:ext cx="2170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Damage Comparison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3660572" y="3520440"/>
            <a:ext cx="21701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near-term: before/after Sentinel-2 optical imagery and a damage-mapping dashboard.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6178144" y="2971800"/>
            <a:ext cx="2535860" cy="1463040"/>
          </a:xfrm>
          <a:prstGeom prst="roundRect">
            <a:avLst>
              <a:gd name="adj" fmla="val 5000"/>
            </a:avLst>
          </a:prstGeom>
          <a:solidFill>
            <a:srgbClr val="17243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361024" y="3136392"/>
            <a:ext cx="2170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Multi-Channel Dispatch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361024" y="3520440"/>
            <a:ext cx="21701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SMS alerting alongside email — once WAHA's reliability is re-validated and an SMS provider is evaluated.</a:t>
            </a:r>
            <a:endParaRPr lang="en-US" sz="880" dirty="0"/>
          </a:p>
        </p:txBody>
      </p:sp>
      <p:sp>
        <p:nvSpPr>
          <p:cNvPr id="23" name="Shape 20"/>
          <p:cNvSpPr/>
          <p:nvPr/>
        </p:nvSpPr>
        <p:spPr>
          <a:xfrm>
            <a:off x="8878595" y="2971800"/>
            <a:ext cx="2535860" cy="1463040"/>
          </a:xfrm>
          <a:prstGeom prst="roundRect">
            <a:avLst>
              <a:gd name="adj" fmla="val 5000"/>
            </a:avLst>
          </a:prstGeom>
          <a:solidFill>
            <a:srgbClr val="17243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061475" y="3136392"/>
            <a:ext cx="2170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 Integration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9061475" y="3520440"/>
            <a:ext cx="21701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once the government grants live API access; until then, open-source imdlib supplies historical gridded rainfall/temperature data.</a:t>
            </a:r>
            <a:endParaRPr lang="en-US" sz="880" dirty="0"/>
          </a:p>
        </p:txBody>
      </p:sp>
      <p:sp>
        <p:nvSpPr>
          <p:cNvPr id="26" name="Shape 23"/>
          <p:cNvSpPr/>
          <p:nvPr/>
        </p:nvSpPr>
        <p:spPr>
          <a:xfrm>
            <a:off x="777240" y="4663440"/>
            <a:ext cx="10637215" cy="1234440"/>
          </a:xfrm>
          <a:prstGeom prst="roundRect">
            <a:avLst>
              <a:gd name="adj" fmla="val 5185"/>
            </a:avLst>
          </a:prstGeom>
          <a:solidFill>
            <a:srgbClr val="17243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05840" y="4800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Hardening the live platform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05840" y="5212080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7D2DC"/>
                </a:solidFill>
              </a:rPr>
              <a:t>✓ Production deployment to Google Cloud Run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490618" y="5212080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7D2DC"/>
                </a:solidFill>
              </a:rPr>
              <a:t>✓ Formal load testing and a security review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7975397" y="5212080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7D2DC"/>
                </a:solidFill>
              </a:rPr>
              <a:t>✓ Activate Redis and Pub/Sub once traffic needs multi-instance scaling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DETAILS / FUTURE DEVELOPMENT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Scientific API Integrations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9164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Cataloged for post-MVP implementation to keep the live prototype on real, working data only — no API is wired in until it actually works.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72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  <a:gridCol w="1645920"/>
                <a:gridCol w="20116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adds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it helps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NOAA NWPS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river gauge and streamflow telemetry — live flood staging instead of static buffers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CHIRPS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40+ years of global precipitation data for long-term drought-trend modeling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GEFS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Probabilistic weather ensembles — confidence intervals on the 7-day storm timeline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NASA SMAP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 soil-moisture monitoring, feeding landslide-risk alerts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WorldPop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demographic GeoJSON queries, replacing today's density-tier population estimate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Sentinel-2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Optical before/after imagery for automated building and transit-corridor damage comparison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77240" y="5532120"/>
            <a:ext cx="10637215" cy="548640"/>
          </a:xfrm>
          <a:prstGeom prst="roundRect">
            <a:avLst>
              <a:gd name="adj" fmla="val 11667"/>
            </a:avLst>
          </a:prstGeom>
          <a:solidFill>
            <a:srgbClr val="E8F0F8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960120" y="553212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5A8A"/>
                </a:solidFill>
              </a:rPr>
              <a:t>✓ Already live, not future: Sentinel-1 SAR flood detection via Google Earth Engine — see Technologies. (IMD integration status — see Future Development.)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It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77240" y="2011680"/>
            <a:ext cx="1063721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645920" y="21214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</a:rPr>
              <a:t>GitHub Public Repository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645920" y="23957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</a:rPr>
              <a:t>[ add repository URL ]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77240" y="2971800"/>
            <a:ext cx="1063721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05840" y="3127248"/>
            <a:ext cx="457200" cy="457200"/>
          </a:xfrm>
          <a:prstGeom prst="ellipse">
            <a:avLst/>
          </a:prstGeom>
          <a:solidFill>
            <a:srgbClr val="E8722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645920" y="3081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</a:rPr>
              <a:t>Demo Video (3 minutes)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645920" y="33558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</a:rPr>
              <a:t>[ add demo video link ]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77240" y="3931920"/>
            <a:ext cx="1063721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05840" y="4087368"/>
            <a:ext cx="457200" cy="45720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645920" y="40416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</a:rPr>
              <a:t>Final Product Link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645920" y="43159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</a:rPr>
              <a:t>[ add live product link ]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2026-10-16T15:11:42Z</dcterms:created>
  <dcterms:modified xsi:type="dcterms:W3CDTF">2026-10-16T15:11:42Z</dcterms:modified>
</cp:coreProperties>
</file>