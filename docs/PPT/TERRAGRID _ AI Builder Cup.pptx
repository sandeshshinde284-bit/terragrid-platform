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75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6858000" cy="9144000"/>
  <p:embeddedFontLst>
    <p:embeddedFont>
      <p:font typeface="Google Sans Flex" panose="020B0604020202020204" charset="0"/>
      <p:regular r:id="rId20"/>
      <p:bold r:id="rId21"/>
    </p:embeddedFont>
    <p:embeddedFont>
      <p:font typeface="Google Sans Flex Medium" panose="020B0604020202020204" charset="0"/>
      <p:regular r:id="rId22"/>
      <p:bold r:id="rId23"/>
    </p:embeddedFont>
    <p:embeddedFont>
      <p:font typeface="Google Sans Flex SemiBold" panose="020B0604020202020204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BB31CC8-2855-5D51-5C9F-88A33B43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89A0A28A-6308-98E5-9AD7-686D8CDA2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36D84739-87BE-3AA7-93D8-FD5198F00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1209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92000" y="2772066"/>
            <a:ext cx="8760000" cy="212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IN" b="1" dirty="0"/>
              <a:t>Sentinel AI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Sandesh Shinde 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IN" b="1" dirty="0"/>
              <a:t>Sustainability &amp; Social Impact </a:t>
            </a:r>
            <a:r>
              <a:rPr lang="en-IN" sz="1100" dirty="0"/>
              <a:t>(Build an AI-powered solution that addresses a meaningful environmental or societal challenge. Solutions may focus on improving resource efficiency, increasing accessibility, strengthening resilience, supporting communities, or enabling more informed and sustainable decision-making.)</a:t>
            </a:r>
          </a:p>
          <a:p>
            <a:pPr marL="571500" lvl="2">
              <a:buSzPts val="1800"/>
            </a:pPr>
            <a:r>
              <a:rPr lang="en-IN" sz="1800" b="1" dirty="0">
                <a:latin typeface="Google Sans Flex"/>
                <a:ea typeface="Google Sans Flex"/>
                <a:cs typeface="Google Sans Flex"/>
                <a:sym typeface="Google Sans Flex"/>
              </a:rPr>
              <a:t>		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55585"/>
            <a:ext cx="8943000" cy="365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10C44-BB49-B139-35F2-EF2AF13A0FB7}"/>
              </a:ext>
            </a:extLst>
          </p:cNvPr>
          <p:cNvSpPr txBox="1"/>
          <p:nvPr/>
        </p:nvSpPr>
        <p:spPr>
          <a:xfrm>
            <a:off x="311875" y="834346"/>
            <a:ext cx="60897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TerraGrid — Disaster Intelligence, End to End</a:t>
            </a:r>
            <a:br>
              <a:rPr lang="en-IN" dirty="0"/>
            </a:br>
            <a:r>
              <a:rPr lang="en-IN" i="1" dirty="0">
                <a:solidFill>
                  <a:srgbClr val="4285F4"/>
                </a:solidFill>
              </a:rPr>
              <a:t>Full lifecycle: Predict → Prepare → Respond → Recover</a:t>
            </a:r>
            <a:endParaRPr lang="en-IN" dirty="0">
              <a:solidFill>
                <a:srgbClr val="4285F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24E45-7BA6-6916-2BB1-76BD15CF1E35}"/>
              </a:ext>
            </a:extLst>
          </p:cNvPr>
          <p:cNvSpPr txBox="1"/>
          <p:nvPr/>
        </p:nvSpPr>
        <p:spPr>
          <a:xfrm>
            <a:off x="311875" y="1395965"/>
            <a:ext cx="7958547" cy="3377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dirty="0">
                <a:solidFill>
                  <a:srgbClr val="1A1A1A"/>
                </a:solidFill>
                <a:latin typeface="Google Sans Flex Medium"/>
              </a:rPr>
              <a:t>The Problem</a:t>
            </a:r>
            <a:endParaRPr lang="en-IN" sz="1050" dirty="0"/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 dirty="0">
                <a:solidFill>
                  <a:srgbClr val="1A1A1A"/>
                </a:solidFill>
                <a:latin typeface="Google Sans Flex"/>
              </a:rPr>
              <a:t>Natural disasters in APAC kill thousands yearly. The core issue isn't detection—satellites handle that. The issue is speed and coordination. Disaster response today is siloed: meteorologists forecast, planners allocate resources days later, responders in the field lack real-time intel, and lessons learned never feed back to prevention. Decision-to-action takes hours. By then, preventable lives are lost.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 Medium"/>
              </a:rPr>
              <a:t>The Solution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0" i="0" dirty="0">
                <a:solidFill>
                  <a:srgbClr val="1A1A1A"/>
                </a:solidFill>
                <a:latin typeface="Google Sans Flex"/>
              </a:rPr>
              <a:t>TerraGrid is an AI-powered disaster intelligence platform built around a four-phase lifecycle. Two phases are working in this prototype today; two are the near-term roadmap: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"/>
              </a:rPr>
              <a:t>1. PREPARE</a:t>
            </a:r>
            <a:r>
              <a:rPr sz="1050" b="0" i="0" dirty="0">
                <a:solidFill>
                  <a:srgbClr val="1A1A1A"/>
                </a:solidFill>
                <a:latin typeface="Google Sans Flex"/>
              </a:rPr>
              <a:t>— AI-generated impact analysis and preparedness checklists, 7-day risk forecasting across 8 cities, per-audience agency alert drafting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"/>
              </a:rPr>
              <a:t>2. RESPONSE</a:t>
            </a:r>
            <a:r>
              <a:rPr lang="en-IN" sz="1050" b="1" i="0" dirty="0">
                <a:solidFill>
                  <a:srgbClr val="1A1A1A"/>
                </a:solidFill>
                <a:latin typeface="Google Sans Flex"/>
              </a:rPr>
              <a:t> </a:t>
            </a:r>
            <a:r>
              <a:rPr sz="1050" b="0" i="0" dirty="0">
                <a:solidFill>
                  <a:srgbClr val="1A1A1A"/>
                </a:solidFill>
                <a:latin typeface="Google Sans Flex"/>
              </a:rPr>
              <a:t>— Live multi-hazard incident dashboard, AI decision support (Gemini), evacuation route pre-calculation, multi-channel WhatsApp/email alerting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"/>
              </a:rPr>
              <a:t>3. PREDICT</a:t>
            </a:r>
            <a:r>
              <a:rPr sz="1050" b="0" i="0" dirty="0">
                <a:solidFill>
                  <a:srgbClr val="1A1A1A"/>
                </a:solidFill>
                <a:latin typeface="Google Sans Flex"/>
              </a:rPr>
              <a:t>— 6-month early warning from climate signals (ENSO, seasonal rainfall)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"/>
              </a:rPr>
              <a:t>4. RECOVER</a:t>
            </a:r>
            <a:r>
              <a:rPr lang="en-IN" sz="1050" b="1" i="0" dirty="0">
                <a:solidFill>
                  <a:srgbClr val="1A1A1A"/>
                </a:solidFill>
                <a:latin typeface="Google Sans Flex"/>
              </a:rPr>
              <a:t> </a:t>
            </a:r>
            <a:r>
              <a:rPr sz="1050" b="0" i="0" dirty="0">
                <a:solidFill>
                  <a:srgbClr val="1A1A1A"/>
                </a:solidFill>
                <a:latin typeface="Google Sans Flex"/>
              </a:rPr>
              <a:t>— Before/after satellite damage assessment, recovery tracking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050" b="0" i="0" dirty="0">
                <a:solidFill>
                  <a:srgbClr val="1A1A1A"/>
                </a:solidFill>
                <a:latin typeface="Google Sans Flex"/>
              </a:rPr>
              <a:t>Unlike point solutions (fire detection, earthquake dashboards), TerraGrid connects phases into one workflow instead of leaving teams to stitch together disconnected tools. Every AI recommendation is logged — what data informed it, what the model returned — so the reasoning behind a suggested action is auditable, not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-131152" y="450988"/>
            <a:ext cx="8943000" cy="310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spcBef>
                <a:spcPts val="0"/>
              </a:spcBef>
              <a:spcAft>
                <a:spcPts val="100"/>
              </a:spcAft>
              <a:buSzPts val="1300"/>
              <a:buNone/>
            </a:pPr>
            <a:r>
              <a:rPr sz="1300" b="0" i="0" dirty="0">
                <a:solidFill>
                  <a:srgbClr val="1A1A1A"/>
                </a:solidFill>
                <a:latin typeface="Google Sans Flex Medium"/>
              </a:rPr>
              <a:t>How different is it from any of the other existing ideas?</a:t>
            </a:r>
            <a:endParaRPr sz="1300" dirty="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graphicFrame>
        <p:nvGraphicFramePr>
          <p:cNvPr id="80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460710"/>
              </p:ext>
            </p:extLst>
          </p:nvPr>
        </p:nvGraphicFramePr>
        <p:xfrm>
          <a:off x="303052" y="2104565"/>
          <a:ext cx="8508796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8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Aspect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FFFFFF"/>
                          </a:solidFill>
                          <a:latin typeface="Google Sans Flex Medium"/>
                        </a:rPr>
                        <a:t>Others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Scope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C03030"/>
                          </a:solidFill>
                          <a:latin typeface="Google Sans Flex"/>
                        </a:rPr>
                        <a:t>Single phase (usually RESPONSE only)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PREPARE + RESPONSE live today; PREDICT + RECOVER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Intelligence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C03030"/>
                          </a:solidFill>
                          <a:latin typeface="Google Sans Flex"/>
                        </a:rPr>
                        <a:t>Shows raw data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AI-generated recommendations with confidence scoring (Gemini 2.5 Flash)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Auditability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Black box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Every API fetch + AI response logged to disk for cross-check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Alerting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Manual, single-channel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Automated, multi-channel (WhatsApp + email), per-audience tone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Integration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C03030"/>
                          </a:solidFill>
                          <a:latin typeface="Google Sans Flex"/>
                        </a:rPr>
                        <a:t>One source, one tool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7 live data sources unified in one dashboard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Fails silently on source outage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E8E3E"/>
                          </a:solidFill>
                          <a:latin typeface="Google Sans Flex"/>
                        </a:rPr>
                        <a:t>Automatic retry + backoff + graceful fallback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8E3444B-B971-D03A-7967-04160BE02004}"/>
              </a:ext>
            </a:extLst>
          </p:cNvPr>
          <p:cNvSpPr txBox="1"/>
          <p:nvPr/>
        </p:nvSpPr>
        <p:spPr>
          <a:xfrm>
            <a:off x="209005" y="782693"/>
            <a:ext cx="7282544" cy="107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en-IN" sz="1050" b="1" i="0" dirty="0">
                <a:solidFill>
                  <a:srgbClr val="1A1A1A"/>
                </a:solidFill>
                <a:latin typeface="Google Sans Flex Medium"/>
              </a:rPr>
              <a:t>Current Market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900" b="0" i="0" dirty="0">
                <a:solidFill>
                  <a:srgbClr val="1A1A1A"/>
                </a:solidFill>
                <a:latin typeface="Google Sans Flex"/>
              </a:rPr>
              <a:t>•  NASA/USGS dashboards → fire/earthquake detection only, no response coordination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900" b="0" i="0" dirty="0">
                <a:solidFill>
                  <a:srgbClr val="1A1A1A"/>
                </a:solidFill>
                <a:latin typeface="Google Sans Flex"/>
              </a:rPr>
              <a:t>•  Weather forecasting apps → forecast only, no action planning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900" b="0" i="0" dirty="0">
                <a:solidFill>
                  <a:srgbClr val="1A1A1A"/>
                </a:solidFill>
                <a:latin typeface="Google Sans Flex"/>
              </a:rPr>
              <a:t>•  Emergency management platforms → manual, spreadsheet-driven decisions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900" b="0" i="0" dirty="0">
                <a:solidFill>
                  <a:srgbClr val="1A1A1A"/>
                </a:solidFill>
                <a:latin typeface="Google Sans Flex"/>
              </a:rPr>
              <a:t>•  Routing apps (Google Maps) → general navigation, not disaster-aware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3889438"/>
            <a:ext cx="8783807" cy="422150"/>
          </a:xfrm>
          <a:prstGeom prst="roundRect">
            <a:avLst>
              <a:gd name="adj" fmla="val 169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68482" y="4025503"/>
            <a:ext cx="928688" cy="150019"/>
          </a:xfrm>
          <a:prstGeom prst="roundRect">
            <a:avLst>
              <a:gd name="adj" fmla="val 28571"/>
            </a:avLst>
          </a:prstGeom>
          <a:solidFill>
            <a:srgbClr val="089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25607" y="1060513"/>
            <a:ext cx="3627686" cy="690041"/>
          </a:xfrm>
          <a:prstGeom prst="roundRect">
            <a:avLst>
              <a:gd name="adj" fmla="val 10352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067593" y="1060513"/>
            <a:ext cx="4716214" cy="690041"/>
          </a:xfrm>
          <a:prstGeom prst="roundRect">
            <a:avLst>
              <a:gd name="adj" fmla="val 10352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25607" y="2136316"/>
            <a:ext cx="2762175" cy="634231"/>
          </a:xfrm>
          <a:prstGeom prst="roundRect">
            <a:avLst>
              <a:gd name="adj" fmla="val 112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173507" y="2136316"/>
            <a:ext cx="2762287" cy="634231"/>
          </a:xfrm>
          <a:prstGeom prst="roundRect">
            <a:avLst>
              <a:gd name="adj" fmla="val 112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21520" y="2136316"/>
            <a:ext cx="2762175" cy="634231"/>
          </a:xfrm>
          <a:prstGeom prst="roundRect">
            <a:avLst>
              <a:gd name="adj" fmla="val 112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5607" y="2856272"/>
            <a:ext cx="2762175" cy="758465"/>
          </a:xfrm>
          <a:prstGeom prst="roundRect">
            <a:avLst>
              <a:gd name="adj" fmla="val 941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173507" y="2856272"/>
            <a:ext cx="5610188" cy="758465"/>
          </a:xfrm>
          <a:prstGeom prst="roundRect">
            <a:avLst>
              <a:gd name="adj" fmla="val 941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5607" y="1743410"/>
            <a:ext cx="3627686" cy="714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25607" y="1060512"/>
            <a:ext cx="3627686" cy="714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25607" y="1060513"/>
            <a:ext cx="35719" cy="690041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946149" y="1060513"/>
            <a:ext cx="7144" cy="690041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67593" y="1743410"/>
            <a:ext cx="4716214" cy="7144"/>
          </a:xfrm>
          <a:prstGeom prst="rect">
            <a:avLst/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67593" y="1060512"/>
            <a:ext cx="4716214" cy="7144"/>
          </a:xfrm>
          <a:prstGeom prst="rect">
            <a:avLst/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67593" y="1060513"/>
            <a:ext cx="35719" cy="69004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776664" y="1060513"/>
            <a:ext cx="7144" cy="690041"/>
          </a:xfrm>
          <a:prstGeom prst="rect">
            <a:avLst/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46187" y="1335546"/>
            <a:ext cx="450056" cy="121444"/>
          </a:xfrm>
          <a:prstGeom prst="roundRect">
            <a:avLst>
              <a:gd name="adj" fmla="val 23529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32174" y="1335546"/>
            <a:ext cx="528638" cy="121444"/>
          </a:xfrm>
          <a:prstGeom prst="roundRect">
            <a:avLst>
              <a:gd name="adj" fmla="val 23529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>
              <a:latin typeface="+mj-lt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7" y="1003362"/>
            <a:ext cx="128588" cy="128588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01" y="1192671"/>
            <a:ext cx="91529" cy="857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6187" y="1192671"/>
            <a:ext cx="91529" cy="8572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586" y="1356978"/>
            <a:ext cx="71438" cy="78581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6186" y="1514140"/>
            <a:ext cx="85725" cy="8572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051" y="2257759"/>
            <a:ext cx="100013" cy="100013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4951" y="2257759"/>
            <a:ext cx="100013" cy="100013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2963" y="2257759"/>
            <a:ext cx="100013" cy="100013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051" y="2977715"/>
            <a:ext cx="100013" cy="100013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94951" y="2977715"/>
            <a:ext cx="100013" cy="10001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5608" y="1893428"/>
            <a:ext cx="246862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8" b="1">
                <a:solidFill>
                  <a:srgbClr val="334155"/>
                </a:solidFill>
                <a:latin typeface="+mj-lt"/>
              </a:rPr>
              <a:t>KEY TECHNICAL MECHANISMS (LIVE PLATFORM)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920" y="4054078"/>
            <a:ext cx="857250" cy="95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19" b="1">
                <a:solidFill>
                  <a:srgbClr val="FFFFFF"/>
                </a:solidFill>
                <a:latin typeface="+mj-lt"/>
              </a:rPr>
              <a:t>EXPECTED 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97182" y="3975163"/>
            <a:ext cx="7215188" cy="120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87"/>
              </a:lnSpc>
            </a:pPr>
            <a:r>
              <a:rPr sz="731" dirty="0">
                <a:solidFill>
                  <a:srgbClr val="E2E8F0"/>
                </a:solidFill>
                <a:latin typeface="+mj-lt"/>
              </a:rPr>
              <a:t>TerraGrid automates the data-gathering and recommendation pipeline, </a:t>
            </a:r>
            <a:r>
              <a:rPr sz="731" b="1" dirty="0">
                <a:solidFill>
                  <a:srgbClr val="38BDF8"/>
                </a:solidFill>
                <a:latin typeface="+mj-lt"/>
              </a:rPr>
              <a:t>compressing hours of manual analysis into seconds</a:t>
            </a:r>
            <a:r>
              <a:rPr sz="731" dirty="0">
                <a:solidFill>
                  <a:srgbClr val="E2E8F0"/>
                </a:solidFill>
                <a:latin typeface="+mj-lt"/>
              </a:rPr>
              <a:t> to accelerate critical emergency responses.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593" y="1183597"/>
            <a:ext cx="904094" cy="1038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75" b="1" dirty="0">
                <a:solidFill>
                  <a:srgbClr val="DC2626"/>
                </a:solidFill>
                <a:latin typeface="+mj-lt"/>
              </a:rPr>
              <a:t>THE CORE 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201" y="1331974"/>
            <a:ext cx="3370511" cy="299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70"/>
              </a:lnSpc>
            </a:pPr>
            <a:r>
              <a:rPr sz="900" b="1" dirty="0">
                <a:solidFill>
                  <a:srgbClr val="7F1D1D"/>
                </a:solidFill>
                <a:latin typeface="+mj-lt"/>
              </a:rPr>
              <a:t>Decision-to-action takes hours today. Preventable lives are lost due to delayed information.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0578" y="1183597"/>
            <a:ext cx="1245534" cy="1038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75" b="1">
                <a:solidFill>
                  <a:srgbClr val="059669"/>
                </a:solidFill>
                <a:latin typeface="+mj-lt"/>
              </a:rPr>
              <a:t>TERRAGRID SOLUTION PATH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213" y="2247140"/>
            <a:ext cx="1207062" cy="1212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88" b="1">
                <a:solidFill>
                  <a:srgbClr val="0F172A"/>
                </a:solidFill>
                <a:latin typeface="+mj-lt"/>
              </a:rPr>
              <a:t>Multi-Source 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051" y="2414922"/>
            <a:ext cx="2590725" cy="247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79"/>
              </a:lnSpc>
            </a:pPr>
            <a:r>
              <a:rPr sz="675">
                <a:solidFill>
                  <a:srgbClr val="475569"/>
                </a:solidFill>
                <a:latin typeface="+mj-lt"/>
              </a:rPr>
              <a:t>Auto-ingests </a:t>
            </a:r>
            <a:r>
              <a:rPr sz="675" b="1">
                <a:solidFill>
                  <a:srgbClr val="475569"/>
                </a:solidFill>
                <a:latin typeface="+mj-lt"/>
              </a:rPr>
              <a:t>7 live APIs</a:t>
            </a:r>
            <a:r>
              <a:rPr sz="675">
                <a:solidFill>
                  <a:srgbClr val="475569"/>
                </a:solidFill>
                <a:latin typeface="+mj-lt"/>
              </a:rPr>
              <a:t> (NASA EONET, USGS, NOAA, GDACS, OpenWeather, OSM, OSRM) with zero manual data gathering.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2113" y="2247140"/>
            <a:ext cx="976229" cy="1212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88" b="1">
                <a:solidFill>
                  <a:srgbClr val="0F172A"/>
                </a:solidFill>
                <a:latin typeface="+mj-lt"/>
              </a:rPr>
              <a:t>AI Decision Support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4951" y="2414922"/>
            <a:ext cx="2590837" cy="247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79"/>
              </a:lnSpc>
            </a:pPr>
            <a:r>
              <a:rPr sz="675" b="1">
                <a:solidFill>
                  <a:srgbClr val="475569"/>
                </a:solidFill>
                <a:latin typeface="+mj-lt"/>
              </a:rPr>
              <a:t>Gemini 2.5 Flash</a:t>
            </a:r>
            <a:r>
              <a:rPr sz="675">
                <a:solidFill>
                  <a:srgbClr val="475569"/>
                </a:solidFill>
                <a:latin typeface="+mj-lt"/>
              </a:rPr>
              <a:t> generates action timelines, preparedness checklists, and agency alert drafts with confidence scoring.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126" y="2247140"/>
            <a:ext cx="1300036" cy="1212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88" b="1">
                <a:solidFill>
                  <a:srgbClr val="0F172A"/>
                </a:solidFill>
                <a:latin typeface="+mj-lt"/>
              </a:rPr>
              <a:t>Evacuation Route Pre-Calc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2963" y="2414922"/>
            <a:ext cx="2590725" cy="247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79"/>
              </a:lnSpc>
            </a:pPr>
            <a:r>
              <a:rPr sz="675" b="1">
                <a:solidFill>
                  <a:srgbClr val="475569"/>
                </a:solidFill>
                <a:latin typeface="+mj-lt"/>
              </a:rPr>
              <a:t>OSRM road-network routing</a:t>
            </a:r>
            <a:r>
              <a:rPr sz="675">
                <a:solidFill>
                  <a:srgbClr val="475569"/>
                </a:solidFill>
                <a:latin typeface="+mj-lt"/>
              </a:rPr>
              <a:t> with automatic geodesic fallback algorithms if primary routing services fail.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214" y="2967096"/>
            <a:ext cx="992259" cy="1212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88" b="1">
                <a:solidFill>
                  <a:srgbClr val="0F172A"/>
                </a:solidFill>
                <a:latin typeface="+mj-lt"/>
              </a:rPr>
              <a:t>Multi-Channel Alerts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051" y="3134878"/>
            <a:ext cx="2590725" cy="3723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79"/>
              </a:lnSpc>
            </a:pPr>
            <a:r>
              <a:rPr sz="675">
                <a:solidFill>
                  <a:srgbClr val="475569"/>
                </a:solidFill>
                <a:latin typeface="+mj-lt"/>
              </a:rPr>
              <a:t>Delivers adapted messaging via </a:t>
            </a:r>
            <a:r>
              <a:rPr sz="675" b="1">
                <a:solidFill>
                  <a:srgbClr val="475569"/>
                </a:solidFill>
                <a:latin typeface="+mj-lt"/>
              </a:rPr>
              <a:t>WhatsApp (WAHA)</a:t>
            </a:r>
            <a:r>
              <a:rPr sz="675">
                <a:solidFill>
                  <a:srgbClr val="475569"/>
                </a:solidFill>
                <a:latin typeface="+mj-lt"/>
              </a:rPr>
              <a:t> and </a:t>
            </a:r>
            <a:r>
              <a:rPr sz="675" b="1">
                <a:solidFill>
                  <a:srgbClr val="475569"/>
                </a:solidFill>
                <a:latin typeface="+mj-lt"/>
              </a:rPr>
              <a:t>Email (Resend)</a:t>
            </a:r>
            <a:r>
              <a:rPr sz="675">
                <a:solidFill>
                  <a:srgbClr val="475569"/>
                </a:solidFill>
                <a:latin typeface="+mj-lt"/>
              </a:rPr>
              <a:t> tailored for farmers, hospitals, NGOs, and municipal corps.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2113" y="2967096"/>
            <a:ext cx="1676741" cy="1212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88" b="1">
                <a:solidFill>
                  <a:srgbClr val="0F172A"/>
                </a:solidFill>
                <a:latin typeface="+mj-lt"/>
              </a:rPr>
              <a:t>Transparent Cross-Check Logging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4951" y="3134878"/>
            <a:ext cx="5438738" cy="244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979"/>
              </a:lnSpc>
            </a:pPr>
            <a:r>
              <a:rPr sz="675">
                <a:solidFill>
                  <a:srgbClr val="475569"/>
                </a:solidFill>
                <a:latin typeface="+mj-lt"/>
              </a:rPr>
              <a:t>Every external API payload and Gemini AI response is saved to disk as a timestamped </a:t>
            </a:r>
            <a:r>
              <a:rPr sz="675" b="1">
                <a:solidFill>
                  <a:srgbClr val="475569"/>
                </a:solidFill>
                <a:latin typeface="+mj-lt"/>
              </a:rPr>
              <a:t>JSON envelope</a:t>
            </a:r>
            <a:r>
              <a:rPr sz="675">
                <a:solidFill>
                  <a:srgbClr val="475569"/>
                </a:solidFill>
                <a:latin typeface="+mj-lt"/>
              </a:rPr>
              <a:t> — fully auditable, non-blackbox architecture.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03337" y="1349833"/>
            <a:ext cx="407194" cy="95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19" b="1" dirty="0">
                <a:solidFill>
                  <a:srgbClr val="F8FAFC"/>
                </a:solidFill>
                <a:latin typeface="+mj-lt"/>
              </a:rPr>
              <a:t>PREPARE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9324" y="1349833"/>
            <a:ext cx="485775" cy="95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19" b="1">
                <a:solidFill>
                  <a:srgbClr val="F8FAFC"/>
                </a:solidFill>
                <a:latin typeface="+mj-lt"/>
              </a:rPr>
              <a:t>RESPONSE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74774" y="1503425"/>
            <a:ext cx="423193" cy="103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75" b="1" i="1">
                <a:solidFill>
                  <a:srgbClr val="D97706"/>
                </a:solidFill>
                <a:latin typeface="+mj-lt"/>
              </a:rPr>
              <a:t>Roadmap:</a:t>
            </a:r>
          </a:p>
        </p:txBody>
      </p:sp>
      <p:sp>
        <p:nvSpPr>
          <p:cNvPr id="55" name="Google Shape;79;p16">
            <a:extLst>
              <a:ext uri="{FF2B5EF4-FFF2-40B4-BE49-F238E27FC236}">
                <a16:creationId xmlns:a16="http://schemas.microsoft.com/office/drawing/2014/main" id="{719E0781-9593-FC75-1A23-1069CCF2DE6E}"/>
              </a:ext>
            </a:extLst>
          </p:cNvPr>
          <p:cNvSpPr txBox="1"/>
          <p:nvPr/>
        </p:nvSpPr>
        <p:spPr>
          <a:xfrm>
            <a:off x="-159192" y="487767"/>
            <a:ext cx="8943000" cy="34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None/>
            </a:pPr>
            <a:r>
              <a:rPr sz="1300" b="0" i="0" dirty="0">
                <a:solidFill>
                  <a:srgbClr val="1A1A1A"/>
                </a:solidFill>
                <a:latin typeface="+mj-lt"/>
              </a:rPr>
              <a:t>How will it be able to solve the problem?</a:t>
            </a:r>
          </a:p>
        </p:txBody>
      </p:sp>
      <p:pic>
        <p:nvPicPr>
          <p:cNvPr id="57" name="Google Shape;77;p16" title="Group 427319979.png">
            <a:extLst>
              <a:ext uri="{FF2B5EF4-FFF2-40B4-BE49-F238E27FC236}">
                <a16:creationId xmlns:a16="http://schemas.microsoft.com/office/drawing/2014/main" id="{633E3B41-1A3E-FC89-1929-36F9BFD5750B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538C6F0E-05B1-5E11-B4DA-3D56BED6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3A60DF42-C91B-5A0C-5966-F48F503BF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676695C4-3C5E-7171-A17C-8DEEF7DEA84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9AE4601-5F1E-A405-F71B-43E571910428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9D4022F3-E4A1-3B2F-048D-E8A487EB547F}"/>
              </a:ext>
            </a:extLst>
          </p:cNvPr>
          <p:cNvSpPr txBox="1"/>
          <p:nvPr/>
        </p:nvSpPr>
        <p:spPr>
          <a:xfrm>
            <a:off x="317602" y="578917"/>
            <a:ext cx="8943000" cy="2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USP of the proposed solution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#1: Phase Integration, Not a Point Solution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PREPARE + RESPONSE connected today; PREDICT + RECOVER next on the roadmap — working toward full-lifecycle coverage, not stopping at detection.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#2: AI That Recommends, Not Just Displays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Gemini drafts a response plan, checklist, and agency alert — confidence-scored, human-reviewed before send.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#3: Auditable AI, Not a Black 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Every API fetch and Gemini response is logged to disk, folder-wise — the reasoning behind any recommendation can be checked against raw data.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#4: Resilient Data Pipeline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Automatic retry + backoff + graceful fallback when any source fails — the dashboard degrades, it doesn't break.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#5: Google Cloud Native Stack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Vertex AI (Gemini) + Earth Engine (Sentinel-1 SAR); deployment target is Cloud Run, not yet deployed at submission time.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317602" y="3150000"/>
          <a:ext cx="8508796" cy="17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8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Feature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Existing Solutions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Multi-phase workflow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2 of 4 phases live, 2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AI-drafted recommendations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Auditable AI input/output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Resilient to source failure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Multi-channel alerting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WhatsApp + Email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Google Cloud AI native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33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E8E3E"/>
                </a:solidFill>
                <a:latin typeface="Google Sans Flex Medium"/>
              </a:rPr>
              <a:t>LIVE IN PROTOTYPE — RESPONSE phase (92%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Live multi-hazard incident dashboard (earthquake, volcano, wildfire, storm, flood) with threat scoring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AI Decision Support (Gemini 2.5 Flash): response plans, preparedness actions, agency alert drafts, deep dossiers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Evacuation route pre-calculation (OSRM road-network routing, geodesic fallback on failure)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Live infrastructure mapping — hospitals, fire stations, schools, power, bridges (OpenStreetMap/Overpass)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Satellite cross-validation + Sentinel-1 SAR flood detection (Google Earth Engine)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Multi-channel alerting — WhatsApp (WAHA) and email (Resend), per-audience templates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Decision lineage / audit trail and real-time WebSocket dashboard updates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E8E3E"/>
                </a:solidFill>
                <a:latin typeface="Google Sans Flex Medium"/>
              </a:rPr>
              <a:t>LIVE IN PROTOTYPE — PREPARE phase (89%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7-day risk escalation forecast across 8 monitored cities (</a:t>
            </a:r>
            <a:r>
              <a:rPr sz="900" b="0" i="0" dirty="0" err="1">
                <a:solidFill>
                  <a:srgbClr val="1A1A1A"/>
                </a:solidFill>
                <a:latin typeface="Google Sans Flex"/>
              </a:rPr>
              <a:t>OpenWeatherMap</a:t>
            </a:r>
            <a:r>
              <a:rPr sz="900" b="0" i="0" dirty="0">
                <a:solidFill>
                  <a:srgbClr val="1A1A1A"/>
                </a:solidFill>
                <a:latin typeface="Google Sans Flex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Risk Escalation Timeline — day-by-day confidence %, per city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AI-generated Preparedness Checklist with per-agency task assignment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Agency Alert Templates — tone adapted per audience (farmers, hospitals, NGOs, municipal corps)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Source of Truth indicator — flags degraded/stale data instead of hiding 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857B8"/>
                </a:solidFill>
                <a:latin typeface="Google Sans Flex Medium"/>
              </a:rPr>
              <a:t>PLATFORM-WIDE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Raw data cross-check logging — every external API + Gemini response saved to disk, folder-wise, for audit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Resilient data fetch — automatic retry + backoff and graceful fallback on source failure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B86E00"/>
                </a:solidFill>
                <a:latin typeface="Google Sans Flex Medium"/>
              </a:rPr>
              <a:t>ROADMAP — not yet built (shown honestly, not demoed)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PREDICT phase (0/8 features) — ENSO monitoring, seasonal rainfall outlook, climate signal dashboard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RECOVER phase (0/11 features) — before/after damage assessment, recovery milestone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-29250" y="432729"/>
            <a:ext cx="8943000" cy="7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CB4D-585F-04CE-868C-C5D43CEC9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29047"/>
            <a:ext cx="9144000" cy="44348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0" y="543420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D26A76-2690-D696-EE09-2A0841D25C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38496"/>
            <a:ext cx="9144000" cy="38192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Languages: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Python 3.13, TypeScript / JavaScript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Backend: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FastAPI, Pydantic, SQLAlchemy + Alembic, APScheduler, websockets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Database: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PostgreSQL (psycopg2)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Frontend: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Vue 3, Vite, Pinia, Vue Router, vue-i18n, Mapbox GL JS, Axios, Tailwind CSS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Google Cloud / AI: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Vertex AI (Gemini 2.5 Flash), Google Earth Engine, Cloud Storage, Secret Manager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External data APIs: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NASA EONET, USGS Earthquake, NOAA, GDACS, OpenWeatherMap, OpenStreetMap / Overpass, OSRM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Alerting: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WAHA (WhatsApp), Resend (email)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DevOps: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Docker, Docker Compose, GitHub Actions CI, pytest</a:t>
            </a:r>
          </a:p>
          <a:p>
            <a:pPr>
              <a:spcBef>
                <a:spcPts val="800"/>
              </a:spcBef>
            </a:pPr>
            <a:r>
              <a:rPr sz="850" b="0" i="1">
                <a:solidFill>
                  <a:srgbClr val="5F5F5F"/>
                </a:solidFill>
                <a:latin typeface="Google Sans Flex"/>
              </a:rPr>
              <a:t>Note: Redis and Google Cloud Pub/Sub are present in the codebase but not actively wired into the running prototype at submission time — listed here for transparency, not counted as shipped features.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a217bfd-7fc6-4e23-babe-07368f99370d}" enabled="1" method="Standard" siteId="{fda9decf-e892-43ac-9d9f-1a493f9f98d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1372</Words>
  <Application>Microsoft Office PowerPoint</Application>
  <PresentationFormat>On-screen Show (16:9)</PresentationFormat>
  <Paragraphs>138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Google Sans Flex SemiBold</vt:lpstr>
      <vt:lpstr>Google Sans Flex Medium</vt:lpstr>
      <vt:lpstr>Arial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Shinde, Sandesh - [Magellan]</cp:lastModifiedBy>
  <cp:revision>17</cp:revision>
  <dcterms:modified xsi:type="dcterms:W3CDTF">2026-10-15T12:23:28Z</dcterms:modified>
</cp:coreProperties>
</file>