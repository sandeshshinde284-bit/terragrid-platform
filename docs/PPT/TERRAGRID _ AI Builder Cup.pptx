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8" r:id="rId3"/>
    <p:sldId id="259" r:id="rId4"/>
    <p:sldId id="272" r:id="rId5"/>
    <p:sldId id="273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Google Sans Flex" panose="020B0604020202020204" charset="0"/>
      <p:regular r:id="rId24"/>
      <p:bold r:id="rId25"/>
    </p:embeddedFont>
    <p:embeddedFont>
      <p:font typeface="Google Sans Flex Medium" panose="020B0604020202020204" charset="0"/>
      <p:regular r:id="rId26"/>
      <p:bold r:id="rId27"/>
    </p:embeddedFont>
    <p:embeddedFont>
      <p:font typeface="Google Sans Flex SemiBold" panose="020B0604020202020204" charset="0"/>
      <p:regular r:id="rId28"/>
      <p:bold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A942B96A-A5AD-87B3-2009-00E808C6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>
            <a:extLst>
              <a:ext uri="{FF2B5EF4-FFF2-40B4-BE49-F238E27FC236}">
                <a16:creationId xmlns:a16="http://schemas.microsoft.com/office/drawing/2014/main" id="{994648C7-3EBA-4679-28EE-596E1138F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>
            <a:extLst>
              <a:ext uri="{FF2B5EF4-FFF2-40B4-BE49-F238E27FC236}">
                <a16:creationId xmlns:a16="http://schemas.microsoft.com/office/drawing/2014/main" id="{6E57A990-BFB6-3E80-2877-6ABCFBC54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022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0BB31CC8-2855-5D51-5C9F-88A33B43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>
            <a:extLst>
              <a:ext uri="{FF2B5EF4-FFF2-40B4-BE49-F238E27FC236}">
                <a16:creationId xmlns:a16="http://schemas.microsoft.com/office/drawing/2014/main" id="{89A0A28A-6308-98E5-9AD7-686D8CDA2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>
            <a:extLst>
              <a:ext uri="{FF2B5EF4-FFF2-40B4-BE49-F238E27FC236}">
                <a16:creationId xmlns:a16="http://schemas.microsoft.com/office/drawing/2014/main" id="{36D84739-87BE-3AA7-93D8-FD5198F00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1209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92000" y="2772066"/>
            <a:ext cx="8760000" cy="212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 dirty="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914400" lvl="1" indent="-342900"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IN" b="1" dirty="0"/>
              <a:t>Sentinel AI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leader name: Sandesh Shinde 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IN" b="1" dirty="0"/>
              <a:t>Sustainability &amp; Social Impact </a:t>
            </a:r>
            <a:r>
              <a:rPr lang="en-IN" sz="1100" dirty="0"/>
              <a:t>(Build an AI-powered solution that addresses a meaningful environmental or societal challenge. Solutions may focus on improving resource efficiency, increasing accessibility, strengthening resilience, supporting communities, or enabling more informed and sustainable decision-making.)</a:t>
            </a:r>
          </a:p>
          <a:p>
            <a:pPr marL="571500" lvl="2">
              <a:buSzPts val="1800"/>
            </a:pPr>
            <a:r>
              <a:rPr lang="en-IN" sz="1800" b="1" dirty="0">
                <a:latin typeface="Google Sans Flex"/>
                <a:ea typeface="Google Sans Flex"/>
                <a:cs typeface="Google Sans Flex"/>
                <a:sym typeface="Google Sans Flex"/>
              </a:rPr>
              <a:t>		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55585"/>
            <a:ext cx="8943000" cy="365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310C44-BB49-B139-35F2-EF2AF13A0FB7}"/>
              </a:ext>
            </a:extLst>
          </p:cNvPr>
          <p:cNvSpPr txBox="1"/>
          <p:nvPr/>
        </p:nvSpPr>
        <p:spPr>
          <a:xfrm>
            <a:off x="311875" y="834346"/>
            <a:ext cx="60897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TerraGrid — Disaster Intelligence, End to End</a:t>
            </a:r>
            <a:br>
              <a:rPr lang="en-IN" dirty="0"/>
            </a:br>
            <a:r>
              <a:rPr lang="en-IN" i="1" dirty="0">
                <a:solidFill>
                  <a:srgbClr val="4285F4"/>
                </a:solidFill>
              </a:rPr>
              <a:t>Full lifecycle: Predict → Prepare → Respond → Recover</a:t>
            </a:r>
            <a:endParaRPr lang="en-IN" dirty="0">
              <a:solidFill>
                <a:srgbClr val="4285F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A24E45-7BA6-6916-2BB1-76BD15CF1E35}"/>
              </a:ext>
            </a:extLst>
          </p:cNvPr>
          <p:cNvSpPr txBox="1"/>
          <p:nvPr/>
        </p:nvSpPr>
        <p:spPr>
          <a:xfrm>
            <a:off x="311875" y="1395965"/>
            <a:ext cx="7958547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b="1" dirty="0"/>
              <a:t>The Problem</a:t>
            </a:r>
            <a:endParaRPr lang="en-IN" sz="1000" dirty="0"/>
          </a:p>
          <a:p>
            <a:br>
              <a:rPr lang="en-IN" sz="1000" dirty="0"/>
            </a:br>
            <a:r>
              <a:rPr lang="en-IN" sz="1000" dirty="0"/>
              <a:t>Natural disasters in APAC kill thousands yearly. The core issue isn't detection—satellites handle that. The issue is speed and coordination. Disaster response today is siloed: meteorologists forecast, planners allocate resources days later, responders in the field lack real-time intel, and lessons learned never feed back to prevention. Decision-to-action takes hours. By then, preventable lives are lost.</a:t>
            </a:r>
          </a:p>
          <a:p>
            <a:endParaRPr lang="en-IN" sz="1000" dirty="0"/>
          </a:p>
          <a:p>
            <a:r>
              <a:rPr lang="en-IN" sz="1000" b="1" dirty="0"/>
              <a:t>The Solution</a:t>
            </a:r>
            <a:endParaRPr lang="en-IN" sz="1000" dirty="0"/>
          </a:p>
          <a:p>
            <a:br>
              <a:rPr lang="en-IN" sz="1000" dirty="0"/>
            </a:br>
            <a:r>
              <a:rPr lang="en-IN" sz="1000" dirty="0"/>
              <a:t>TerraGrid is an AI-powered disaster intelligence platform that unifies response across four phases:</a:t>
            </a:r>
          </a:p>
          <a:p>
            <a:br>
              <a:rPr lang="en-IN" sz="1000" dirty="0"/>
            </a:br>
            <a:r>
              <a:rPr lang="en-IN" sz="1000" dirty="0"/>
              <a:t>1. </a:t>
            </a:r>
            <a:r>
              <a:rPr lang="en-IN" sz="1000" b="1" dirty="0"/>
              <a:t>**PREDICT**</a:t>
            </a:r>
            <a:r>
              <a:rPr lang="en-IN" sz="1000" dirty="0"/>
              <a:t> — 7-day forecast + infrastructure vulnerability identification</a:t>
            </a:r>
          </a:p>
          <a:p>
            <a:r>
              <a:rPr lang="en-IN" sz="1000" dirty="0"/>
              <a:t>2. </a:t>
            </a:r>
            <a:r>
              <a:rPr lang="en-IN" sz="1000" b="1" dirty="0"/>
              <a:t>**PREPARE**</a:t>
            </a:r>
            <a:r>
              <a:rPr lang="en-IN" sz="1000" dirty="0"/>
              <a:t> — AI impact analysis ("X buildings exposed, Y population at risk") + resource pre-positioning</a:t>
            </a:r>
          </a:p>
          <a:p>
            <a:r>
              <a:rPr lang="en-IN" sz="1000" dirty="0"/>
              <a:t>3. </a:t>
            </a:r>
            <a:r>
              <a:rPr lang="en-IN" sz="1000" b="1" dirty="0"/>
              <a:t>**RESPONSE**</a:t>
            </a:r>
            <a:r>
              <a:rPr lang="en-IN" sz="1000" dirty="0"/>
              <a:t> — Live incident dashboard + dynamic evacuation routing + multi-channel alerts</a:t>
            </a:r>
          </a:p>
          <a:p>
            <a:r>
              <a:rPr lang="en-IN" sz="1000" dirty="0"/>
              <a:t>4. </a:t>
            </a:r>
            <a:r>
              <a:rPr lang="en-IN" sz="1000" b="1" dirty="0"/>
              <a:t>**RECOVER**</a:t>
            </a:r>
            <a:r>
              <a:rPr lang="en-IN" sz="1000" dirty="0"/>
              <a:t> — Before/after damage assessment + lessons learned</a:t>
            </a:r>
          </a:p>
          <a:p>
            <a:br>
              <a:rPr lang="en-IN" sz="1000" dirty="0"/>
            </a:br>
            <a:endParaRPr lang="en-IN" sz="1000" dirty="0"/>
          </a:p>
          <a:p>
            <a:r>
              <a:rPr lang="en-IN" sz="1000" dirty="0"/>
              <a:t>Unlike point solutions (fire detection, earthquake dashboards), TerraGrid connects all four phases. Every decision is tracked—why it was made, what data informed it, whether it worked post-event. Responders don't just see data; they get AI recommendations: </a:t>
            </a:r>
            <a:r>
              <a:rPr lang="en-IN" sz="1000" i="1" dirty="0"/>
              <a:t>*"Route evac via Highway 3 (not Highway 1—flooded). This saves 15 min/person</a:t>
            </a:r>
            <a:r>
              <a:rPr lang="en-IN" sz="1100" i="1" dirty="0"/>
              <a:t>."*</a:t>
            </a:r>
            <a:endParaRPr lang="en-IN" sz="1100" dirty="0">
              <a:latin typeface="Consolas" panose="020B0609020204030204" pitchFamily="49" charset="0"/>
            </a:endParaRPr>
          </a:p>
          <a:p>
            <a:endParaRPr lang="en-IN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317602" y="578917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spcBef>
                <a:spcPts val="0"/>
              </a:spcBef>
              <a:spcAft>
                <a:spcPts val="0"/>
              </a:spcAft>
              <a:buSzPts val="1300"/>
            </a:pPr>
            <a:r>
              <a:rPr lang="en-GB" sz="1300" dirty="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>
              <a:buSzPts val="1300"/>
              <a:buFont typeface="Google Sans Flex"/>
              <a:buChar char="●"/>
            </a:pPr>
            <a:r>
              <a:rPr lang="en-GB" sz="1000" dirty="0">
                <a:latin typeface="+mj-lt"/>
                <a:ea typeface="Google Sans Flex"/>
                <a:cs typeface="Google Sans Flex"/>
                <a:sym typeface="Google Sans Flex"/>
              </a:rPr>
              <a:t>Current Market:• NASA/USGS dashboards → Fire/earthquake detection only (no response coordination)• Weather forecasting apps → Predict phase only (no action planning)• Emergency management platforms → Manual, slow decision-making• Routing apps (Google Maps) → General navigation (not disaster-specific optimization)TerraGrid:┌───────────────────┬─────────────────────────────────┬────────────────────────────────────────────────────┐│ Aspect            │ Others                          │ TerraGrid                                          │├───────────────────┼─────────────────────────────────┼────────────────────────────────────────────────────┤│ Scope             │ Single phase (usually RESPONSE) │ All 4 phases (PREDICT→PREPARE→RESPONSE→RECOVER)    │├───────────────────┼─────────────────────────────────┼────────────────────────────────────────────────────┤│ Intelligence      │ Shows data                      │ Recommends actions (AI-powered)                    │├───────────────────┼─────────────────────────────────┼────────────────────────────────────────────────────┤│ Decision Tracking │ Black box                       │ Full lineage + outcome validation                  │├───────────────────┼─────────────────────────────────┼────────────────────────────────────────────────────┤│ Real-time         │ Pre-computed scenarios          │ Live dynamic optimization                          │├───────────────────┼─────────────────────────────────┼────────────────────────────────────────────────────┤│ Integration       │ Point solutions                 │ 7+ APIs unified in one platform                    │├───────────────────┼─────────────────────────────────┼────────────────────────────────────────────────────┤│ Field-Ready       │ Technical dashboards            │ Role-adaptive UI (meteorologist/planner/responder) │└───────────────────┴─────────────────────────────────┴────────────────────────────────────────────────────┘Why TerraGrid Stands </a:t>
            </a:r>
            <a:r>
              <a:rPr lang="en-GB" sz="1000" dirty="0" err="1">
                <a:latin typeface="+mj-lt"/>
                <a:ea typeface="Google Sans Flex"/>
                <a:cs typeface="Google Sans Flex"/>
                <a:sym typeface="Google Sans Flex"/>
              </a:rPr>
              <a:t>Alone:No</a:t>
            </a:r>
            <a:r>
              <a:rPr lang="en-GB" sz="1000" dirty="0">
                <a:latin typeface="+mj-lt"/>
                <a:ea typeface="Google Sans Flex"/>
                <a:cs typeface="Google Sans Flex"/>
                <a:sym typeface="Google Sans Flex"/>
              </a:rPr>
              <a:t> existing solution connects all four disaster phases + AI recommendations + decision lineage in one platform.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C762EECC-6483-BF04-C796-A41BB2217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>
            <a:extLst>
              <a:ext uri="{FF2B5EF4-FFF2-40B4-BE49-F238E27FC236}">
                <a16:creationId xmlns:a16="http://schemas.microsoft.com/office/drawing/2014/main" id="{B94EE4CA-01AC-9D55-9E0A-88F0895128E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>
            <a:extLst>
              <a:ext uri="{FF2B5EF4-FFF2-40B4-BE49-F238E27FC236}">
                <a16:creationId xmlns:a16="http://schemas.microsoft.com/office/drawing/2014/main" id="{B8E24146-7543-98BD-9587-15EEAC9B5F2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49C01654-834B-ABBD-BD46-71D16624A432}"/>
              </a:ext>
            </a:extLst>
          </p:cNvPr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BB05B7D0-2989-16DB-A915-735B6423FE94}"/>
              </a:ext>
            </a:extLst>
          </p:cNvPr>
          <p:cNvSpPr txBox="1"/>
          <p:nvPr/>
        </p:nvSpPr>
        <p:spPr>
          <a:xfrm>
            <a:off x="317602" y="578917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>
              <a:buSzPts val="1300"/>
              <a:buFont typeface="Google Sans Flex"/>
              <a:buChar char="●"/>
            </a:pPr>
            <a:r>
              <a:rPr lang="en-US" sz="1300" dirty="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>
              <a:buSzPts val="1300"/>
              <a:buFont typeface="Google Sans Flex"/>
              <a:buChar char="●"/>
            </a:pPr>
            <a:r>
              <a:rPr lang="en-GB" sz="1300" dirty="0">
                <a:latin typeface="Google Sans Flex"/>
                <a:ea typeface="Google Sans Flex"/>
                <a:cs typeface="Google Sans Flex"/>
                <a:sym typeface="Google Sans Flex"/>
              </a:rPr>
              <a:t>The Problem: Decision-to-action takes hours. Preventable lives are </a:t>
            </a:r>
            <a:r>
              <a:rPr lang="en-GB" sz="1300" dirty="0" err="1">
                <a:latin typeface="Google Sans Flex"/>
                <a:ea typeface="Google Sans Flex"/>
                <a:cs typeface="Google Sans Flex"/>
                <a:sym typeface="Google Sans Flex"/>
              </a:rPr>
              <a:t>lost.TerraGrid's</a:t>
            </a:r>
            <a:r>
              <a:rPr lang="en-GB" sz="1300" dirty="0">
                <a:latin typeface="Google Sans Flex"/>
                <a:ea typeface="Google Sans Flex"/>
                <a:cs typeface="Google Sans Flex"/>
                <a:sym typeface="Google Sans Flex"/>
              </a:rPr>
              <a:t> Solution </a:t>
            </a:r>
            <a:r>
              <a:rPr lang="en-GB" sz="1300" dirty="0" err="1">
                <a:latin typeface="Google Sans Flex"/>
                <a:ea typeface="Google Sans Flex"/>
                <a:cs typeface="Google Sans Flex"/>
                <a:sym typeface="Google Sans Flex"/>
              </a:rPr>
              <a:t>Path:PREDICT</a:t>
            </a:r>
            <a:r>
              <a:rPr lang="en-GB" sz="1300" dirty="0">
                <a:latin typeface="Google Sans Flex"/>
                <a:ea typeface="Google Sans Flex"/>
                <a:cs typeface="Google Sans Flex"/>
                <a:sym typeface="Google Sans Flex"/>
              </a:rPr>
              <a:t> (Early Warning)    ↓PREPARE (AI Impact Analysis + Resource Positioning)    ↓RESPONSE (Live Dashboard + AI-Optimized Routing + Instant Alerts)    ↓RECOVER (Outcome Validation + Lessons Learned)    ↓FEEDBACK LOOP → Improve next PREDICT </a:t>
            </a:r>
            <a:r>
              <a:rPr lang="en-GB" sz="1300" dirty="0" err="1">
                <a:latin typeface="Google Sans Flex"/>
                <a:ea typeface="Google Sans Flex"/>
                <a:cs typeface="Google Sans Flex"/>
                <a:sym typeface="Google Sans Flex"/>
              </a:rPr>
              <a:t>cycleHow</a:t>
            </a:r>
            <a:r>
              <a:rPr lang="en-GB" sz="1300" dirty="0">
                <a:latin typeface="Google Sans Flex"/>
                <a:ea typeface="Google Sans Flex"/>
                <a:cs typeface="Google Sans Flex"/>
                <a:sym typeface="Google Sans Flex"/>
              </a:rPr>
              <a:t> It Reduces Response Time:1. Before: Disaster detected → Wait for human analysis → Manual planning → Delayed alerts• Time: 2-4 hours ⚠️2. With TerraGrid: Disaster detected → AI instantly </a:t>
            </a:r>
            <a:r>
              <a:rPr lang="en-GB" sz="1300" dirty="0" err="1">
                <a:latin typeface="Google Sans Flex"/>
                <a:ea typeface="Google Sans Flex"/>
                <a:cs typeface="Google Sans Flex"/>
                <a:sym typeface="Google Sans Flex"/>
              </a:rPr>
              <a:t>analyzes</a:t>
            </a:r>
            <a:r>
              <a:rPr lang="en-GB" sz="1300" dirty="0">
                <a:latin typeface="Google Sans Flex"/>
                <a:ea typeface="Google Sans Flex"/>
                <a:cs typeface="Google Sans Flex"/>
                <a:sym typeface="Google Sans Flex"/>
              </a:rPr>
              <a:t> impact → Recommends actions → Alerts broadcast• Time: 2-5 minutes ✅Key Mechanisms:• ✅ Real-time Multi-Source Intelligence: 7 APIs auto-ingested; no manual data gathering• ✅ AI Decision Support: Vertex AI + Gemini recommends where/how to evacuate, where to stage resources• ✅ Dynamic Route Optimization: OR-Tools recalculates evacuation routes every 30 sec based on current hazard extent• ✅ Multi-Channel Alerts: SMS + Email reach vulnerable populations instantly with personalized guidance• ✅ Decision Lineage: Every recommendation logged—responders see "why" and can validate post-</a:t>
            </a:r>
            <a:r>
              <a:rPr lang="en-GB" sz="1300" dirty="0" err="1">
                <a:latin typeface="Google Sans Flex"/>
                <a:ea typeface="Google Sans Flex"/>
                <a:cs typeface="Google Sans Flex"/>
                <a:sym typeface="Google Sans Flex"/>
              </a:rPr>
              <a:t>eventResult</a:t>
            </a:r>
            <a:r>
              <a:rPr lang="en-GB" sz="1300" dirty="0">
                <a:latin typeface="Google Sans Flex"/>
                <a:ea typeface="Google Sans Flex"/>
                <a:cs typeface="Google Sans Flex"/>
                <a:sym typeface="Google Sans Flex"/>
              </a:rPr>
              <a:t>: From "detect disaster" → "coordinate response" in minutes, not hours.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  <p:extLst>
      <p:ext uri="{BB962C8B-B14F-4D97-AF65-F5344CB8AC3E}">
        <p14:creationId xmlns:p14="http://schemas.microsoft.com/office/powerpoint/2010/main" val="2390917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538C6F0E-05B1-5E11-B4DA-3D56BED6B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>
            <a:extLst>
              <a:ext uri="{FF2B5EF4-FFF2-40B4-BE49-F238E27FC236}">
                <a16:creationId xmlns:a16="http://schemas.microsoft.com/office/drawing/2014/main" id="{3A60DF42-C91B-5A0C-5966-F48F503BF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>
            <a:extLst>
              <a:ext uri="{FF2B5EF4-FFF2-40B4-BE49-F238E27FC236}">
                <a16:creationId xmlns:a16="http://schemas.microsoft.com/office/drawing/2014/main" id="{676695C4-3C5E-7171-A17C-8DEEF7DEA84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F9AE4601-5F1E-A405-F71B-43E571910428}"/>
              </a:ext>
            </a:extLst>
          </p:cNvPr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9D4022F3-E4A1-3B2F-048D-E8A487EB547F}"/>
              </a:ext>
            </a:extLst>
          </p:cNvPr>
          <p:cNvSpPr txBox="1"/>
          <p:nvPr/>
        </p:nvSpPr>
        <p:spPr>
          <a:xfrm>
            <a:off x="317602" y="578917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>
              <a:buSzPts val="1300"/>
              <a:buFont typeface="Google Sans Flex"/>
              <a:buChar char="●"/>
            </a:pPr>
            <a:r>
              <a:rPr lang="en-US" sz="1300" dirty="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>
              <a:buSzPts val="1300"/>
              <a:buFont typeface="Google Sans Flex"/>
              <a:buChar char="●"/>
            </a:pPr>
            <a:r>
              <a:rPr lang="en-GB" sz="1100" dirty="0">
                <a:latin typeface="+mj-lt"/>
                <a:ea typeface="Google Sans Flex"/>
                <a:cs typeface="Google Sans Flex"/>
                <a:sym typeface="Google Sans Flex"/>
              </a:rPr>
              <a:t>What makes TerraGrid </a:t>
            </a:r>
            <a:r>
              <a:rPr lang="en-GB" sz="1100" dirty="0" err="1">
                <a:latin typeface="+mj-lt"/>
                <a:ea typeface="Google Sans Flex"/>
                <a:cs typeface="Google Sans Flex"/>
                <a:sym typeface="Google Sans Flex"/>
              </a:rPr>
              <a:t>different?USP</a:t>
            </a:r>
            <a:r>
              <a:rPr lang="en-GB" sz="1100" dirty="0">
                <a:latin typeface="+mj-lt"/>
                <a:ea typeface="Google Sans Flex"/>
                <a:cs typeface="Google Sans Flex"/>
                <a:sym typeface="Google Sans Flex"/>
              </a:rPr>
              <a:t> #1: Full Lifecycle Integration• ❌ Others: "We detect disasters"• ✅ TerraGrid: "We detect → </a:t>
            </a:r>
            <a:r>
              <a:rPr lang="en-GB" sz="1100" dirty="0" err="1">
                <a:latin typeface="+mj-lt"/>
                <a:ea typeface="Google Sans Flex"/>
                <a:cs typeface="Google Sans Flex"/>
                <a:sym typeface="Google Sans Flex"/>
              </a:rPr>
              <a:t>analyze</a:t>
            </a:r>
            <a:r>
              <a:rPr lang="en-GB" sz="1100" dirty="0">
                <a:latin typeface="+mj-lt"/>
                <a:ea typeface="Google Sans Flex"/>
                <a:cs typeface="Google Sans Flex"/>
                <a:sym typeface="Google Sans Flex"/>
              </a:rPr>
              <a:t> → optimize response → learn → prevent"• Unique: Only platform with all 4 phases + closed feedback </a:t>
            </a:r>
            <a:r>
              <a:rPr lang="en-GB" sz="1100" dirty="0" err="1">
                <a:latin typeface="+mj-lt"/>
                <a:ea typeface="Google Sans Flex"/>
                <a:cs typeface="Google Sans Flex"/>
                <a:sym typeface="Google Sans Flex"/>
              </a:rPr>
              <a:t>loopUSP</a:t>
            </a:r>
            <a:r>
              <a:rPr lang="en-GB" sz="1100" dirty="0">
                <a:latin typeface="+mj-lt"/>
                <a:ea typeface="Google Sans Flex"/>
                <a:cs typeface="Google Sans Flex"/>
                <a:sym typeface="Google Sans Flex"/>
              </a:rPr>
              <a:t> #2: AI That Actually Recommends (Not Just Shows)• ❌ Others: Dashboard shows fire extent• ✅ TerraGrid: "Deploy 15 mobile clinics to zones B, C, F. Evacuate via Highway 3. This saves 15 min/person."• Unique: Actionable AI, not just data </a:t>
            </a:r>
            <a:r>
              <a:rPr lang="en-GB" sz="1100" dirty="0" err="1">
                <a:latin typeface="+mj-lt"/>
                <a:ea typeface="Google Sans Flex"/>
                <a:cs typeface="Google Sans Flex"/>
                <a:sym typeface="Google Sans Flex"/>
              </a:rPr>
              <a:t>visualizationUSP</a:t>
            </a:r>
            <a:r>
              <a:rPr lang="en-GB" sz="1100" dirty="0">
                <a:latin typeface="+mj-lt"/>
                <a:ea typeface="Google Sans Flex"/>
                <a:cs typeface="Google Sans Flex"/>
                <a:sym typeface="Google Sans Flex"/>
              </a:rPr>
              <a:t> #3: Reproducible Decision Lineage• ❌ Others: "We sent an alert"• ✅ TerraGrid: "We sent alert based on [data]. Post-event validation: prediction was 92% accurate."• Unique: Teams learn from every disaster; improvement is </a:t>
            </a:r>
            <a:r>
              <a:rPr lang="en-GB" sz="1100" dirty="0" err="1">
                <a:latin typeface="+mj-lt"/>
                <a:ea typeface="Google Sans Flex"/>
                <a:cs typeface="Google Sans Flex"/>
                <a:sym typeface="Google Sans Flex"/>
              </a:rPr>
              <a:t>measurableUSP</a:t>
            </a:r>
            <a:r>
              <a:rPr lang="en-GB" sz="1100" dirty="0">
                <a:latin typeface="+mj-lt"/>
                <a:ea typeface="Google Sans Flex"/>
                <a:cs typeface="Google Sans Flex"/>
                <a:sym typeface="Google Sans Flex"/>
              </a:rPr>
              <a:t> #4: Real-Time Dynamic Optimization• ❌ Others: Static routes, pre-planned scenarios• ✅ TerraGrid: Routes recalculate every 30 sec as hazard extent changes• Unique: Responders always have latest info, not yesterday's </a:t>
            </a:r>
            <a:r>
              <a:rPr lang="en-GB" sz="1100" dirty="0" err="1">
                <a:latin typeface="+mj-lt"/>
                <a:ea typeface="Google Sans Flex"/>
                <a:cs typeface="Google Sans Flex"/>
                <a:sym typeface="Google Sans Flex"/>
              </a:rPr>
              <a:t>planUSP</a:t>
            </a:r>
            <a:r>
              <a:rPr lang="en-GB" sz="1100" dirty="0">
                <a:latin typeface="+mj-lt"/>
                <a:ea typeface="Google Sans Flex"/>
                <a:cs typeface="Google Sans Flex"/>
                <a:sym typeface="Google Sans Flex"/>
              </a:rPr>
              <a:t> #5: Role-Adaptive Intelligence• ❌ Others: Complex dashboards (meteorologist-centric)• ✅ TerraGrid: Each role sees their phase (meteorologist sees PREDICT, planner sees PREPARE, responder sees RESPONSE)• Unique: No learning curve; intuitive for diverse </a:t>
            </a:r>
            <a:r>
              <a:rPr lang="en-GB" sz="1100" dirty="0" err="1">
                <a:latin typeface="+mj-lt"/>
                <a:ea typeface="Google Sans Flex"/>
                <a:cs typeface="Google Sans Flex"/>
                <a:sym typeface="Google Sans Flex"/>
              </a:rPr>
              <a:t>teamsUSP</a:t>
            </a:r>
            <a:r>
              <a:rPr lang="en-GB" sz="1100" dirty="0">
                <a:latin typeface="+mj-lt"/>
                <a:ea typeface="Google Sans Flex"/>
                <a:cs typeface="Google Sans Flex"/>
                <a:sym typeface="Google Sans Flex"/>
              </a:rPr>
              <a:t> #6: Built on Google Cloud Native Stack• ❌ Others: Custom geospatial processing (slow, expensive)• ✅ TerraGrid: Vertex AI + Earth Engine + OR-Tools + Cloud Run (fast, scalable, proof-of-concept ready)• Unique: Leverages Google's infrastructure; production-ready out-of-box────────────────────Quick Comparison Table:┌────────────────────────┬────────────────────┬───────────┐│ Feature                │ Existing Solutions │ TerraGrid │├────────────────────────┼────────────────────┼───────────┤│ All 4 phases connected │ ❌ No              │ ✅ Yes    │├────────────────────────┼────────────────────┼───────────┤│ AI recommendations     │ ❌ No              │ ✅ Yes    │├────────────────────────┼────────────────────┼───────────┤│ Decision lineage       │ ❌ No              │ ✅ Yes    │├────────────────────────┼────────────────────┼───────────┤│ Real-time optimization │ ❌ No              │ ✅ Yes    │├────────────────────────┼────────────────────┼───────────┤│ Multi-role interface   │ ❌ No              │ ✅ Yes    │├────────────────────────┼────────────────────┼───────────┤│ Field-ready            │ ❌ No              │ ✅ Yes    │├────────────────────────┼────────────────────┼───────────┤│ Google Cloud native    │ ❌ No              │ ✅ Yes    │└────────────────────────┴────────────────────┴───────────┘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endParaRPr lang="en-GB"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  <p:extLst>
      <p:ext uri="{BB962C8B-B14F-4D97-AF65-F5344CB8AC3E}">
        <p14:creationId xmlns:p14="http://schemas.microsoft.com/office/powerpoint/2010/main" val="47733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a217bfd-7fc6-4e23-babe-07368f99370d}" enabled="1" method="Standard" siteId="{fda9decf-e892-43ac-9d9f-1a493f9f98d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1163</Words>
  <Application>Microsoft Office PowerPoint</Application>
  <PresentationFormat>On-screen Show (16:9)</PresentationFormat>
  <Paragraphs>105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Google Sans Flex SemiBold</vt:lpstr>
      <vt:lpstr>Google Sans Flex Medium</vt:lpstr>
      <vt:lpstr>Google Sans Flex</vt:lpstr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Shinde, Sandesh - [Magellan]</cp:lastModifiedBy>
  <cp:revision>8</cp:revision>
  <dcterms:modified xsi:type="dcterms:W3CDTF">2026-10-13T16:16:50Z</dcterms:modified>
</cp:coreProperties>
</file>