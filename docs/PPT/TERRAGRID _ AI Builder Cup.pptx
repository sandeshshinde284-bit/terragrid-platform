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8" r:id="rId3"/>
    <p:sldId id="259" r:id="rId4"/>
    <p:sldId id="272" r:id="rId5"/>
    <p:sldId id="273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Google Sans Flex" panose="020B0604020202020204" charset="0"/>
      <p:regular r:id="rId24"/>
      <p:bold r:id="rId25"/>
    </p:embeddedFont>
    <p:embeddedFont>
      <p:font typeface="Google Sans Flex Medium" panose="020B0604020202020204" charset="0"/>
      <p:regular r:id="rId26"/>
      <p:bold r:id="rId27"/>
    </p:embeddedFont>
    <p:embeddedFont>
      <p:font typeface="Google Sans Flex SemiBold" panose="020B0604020202020204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Relationship Id="rId28" Type="http://schemas.openxmlformats.org/officeDocument/2006/relationships/font" Target="fonts/font9.fntdata"/><Relationship Id="rId29" Type="http://schemas.openxmlformats.org/officeDocument/2006/relationships/font" Target="fonts/font10.fntdata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7" name="Google Shape;67;g3fb085bff3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4" name="Google Shape;74;g3fb085bff3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A942B96A-A5AD-87B3-2009-00E808C61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>
            <a:extLst>
              <a:ext uri="{FF2B5EF4-FFF2-40B4-BE49-F238E27FC236}">
                <a16:creationId xmlns:a16="http://schemas.microsoft.com/office/drawing/2014/main" id="{994648C7-3EBA-4679-28EE-596E1138F1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4" name="Google Shape;74;g3fb085bff3c_0_11:notes">
            <a:extLst>
              <a:ext uri="{FF2B5EF4-FFF2-40B4-BE49-F238E27FC236}">
                <a16:creationId xmlns:a16="http://schemas.microsoft.com/office/drawing/2014/main" id="{6E57A990-BFB6-3E80-2877-6ABCFBC547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022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0BB31CC8-2855-5D51-5C9F-88A33B435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>
            <a:extLst>
              <a:ext uri="{FF2B5EF4-FFF2-40B4-BE49-F238E27FC236}">
                <a16:creationId xmlns:a16="http://schemas.microsoft.com/office/drawing/2014/main" id="{89A0A28A-6308-98E5-9AD7-686D8CDA2C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4" name="Google Shape;74;g3fb085bff3c_0_11:notes">
            <a:extLst>
              <a:ext uri="{FF2B5EF4-FFF2-40B4-BE49-F238E27FC236}">
                <a16:creationId xmlns:a16="http://schemas.microsoft.com/office/drawing/2014/main" id="{36D84739-87BE-3AA7-93D8-FD5198F00C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1209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82" name="Google Shape;82;g3fb085bff3c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0" name="Google Shape;90;g3fb085bff3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8" name="Google Shape;98;g3fb085bff3c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6" name="Google Shape;106;g3fb085bff3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14" name="Google Shape;114;g3fb085bff3c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2" name="Google Shape;122;g3fb085bff3c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30" name="Google Shape;130;g3fb085bff3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38" name="Google Shape;138;g3fb085bff3c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46" name="Google Shape;146;g3fb085bff3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4" name="Google Shape;154;g3fb085bff3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62" name="Google Shape;162;g3fb085bff3c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69" name="Google Shape;169;g3fb085bff3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92000" y="2772066"/>
            <a:ext cx="8760000" cy="2126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dirty="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 dirty="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914400" lvl="1" indent="-342900">
              <a:buSzPts val="1800"/>
              <a:buFont typeface="Google Sans Flex"/>
              <a:buAutoNum type="alphaLcPeriod"/>
            </a:pPr>
            <a:r>
              <a:rPr lang="en-GB" sz="1800" dirty="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lang="en-IN" b="1" dirty="0"/>
              <a:t>Sentinel AI</a:t>
            </a:r>
            <a:endParaRPr sz="18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 dirty="0">
                <a:latin typeface="Google Sans Flex"/>
                <a:ea typeface="Google Sans Flex"/>
                <a:cs typeface="Google Sans Flex"/>
                <a:sym typeface="Google Sans Flex"/>
              </a:rPr>
              <a:t>Team leader name: Sandesh Shinde </a:t>
            </a:r>
            <a:endParaRPr sz="18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914400" lvl="1" indent="-342900">
              <a:buSzPts val="1800"/>
              <a:buFont typeface="Google Sans Flex"/>
              <a:buAutoNum type="alphaLcPeriod"/>
            </a:pPr>
            <a:r>
              <a:rPr lang="en-GB" sz="1800" dirty="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r>
              <a:rPr lang="en-IN" b="1" dirty="0"/>
              <a:t>Sustainability &amp; Social Impact </a:t>
            </a:r>
            <a:r>
              <a:rPr lang="en-IN" sz="1100" dirty="0"/>
              <a:t>(Build an AI-powered solution that addresses a meaningful environmental or societal challenge. Solutions may focus on improving resource efficiency, increasing accessibility, strengthening resilience, supporting communities, or enabling more informed and sustainable decision-making.)</a:t>
            </a:r>
          </a:p>
          <a:p>
            <a:pPr marL="571500" lvl="2">
              <a:buSzPts val="1800"/>
            </a:pPr>
            <a:r>
              <a:rPr lang="en-IN" sz="1800" b="1" dirty="0">
                <a:latin typeface="Google Sans Flex"/>
                <a:ea typeface="Google Sans Flex"/>
                <a:cs typeface="Google Sans Flex"/>
                <a:sym typeface="Google Sans Flex"/>
              </a:rPr>
              <a:t>		</a:t>
            </a:r>
            <a:endParaRPr sz="18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555585"/>
            <a:ext cx="8943000" cy="365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10C44-BB49-B139-35F2-EF2AF13A0FB7}"/>
              </a:ext>
            </a:extLst>
          </p:cNvPr>
          <p:cNvSpPr txBox="1"/>
          <p:nvPr/>
        </p:nvSpPr>
        <p:spPr>
          <a:xfrm>
            <a:off x="311875" y="834346"/>
            <a:ext cx="60897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TerraGrid — Disaster Intelligence, End to End</a:t>
            </a:r>
            <a:br>
              <a:rPr lang="en-IN" dirty="0"/>
            </a:br>
            <a:r>
              <a:rPr lang="en-IN" i="1" dirty="0">
                <a:solidFill>
                  <a:srgbClr val="4285F4"/>
                </a:solidFill>
              </a:rPr>
              <a:t>Full lifecycle: Predict → Prepare → Respond → Recover</a:t>
            </a:r>
            <a:endParaRPr lang="en-IN" dirty="0">
              <a:solidFill>
                <a:srgbClr val="4285F4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A24E45-7BA6-6916-2BB1-76BD15CF1E35}"/>
              </a:ext>
            </a:extLst>
          </p:cNvPr>
          <p:cNvSpPr txBox="1"/>
          <p:nvPr/>
        </p:nvSpPr>
        <p:spPr>
          <a:xfrm>
            <a:off x="311875" y="1395965"/>
            <a:ext cx="7958547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/>
              <a:t>The Problem</a:t>
            </a:r>
            <a:endParaRPr lang="en-IN" sz="1000" dirty="0"/>
          </a:p>
          <a:p>
            <a:br>
              <a:rPr lang="en-IN" sz="1000" dirty="0"/>
            </a:br>
            <a:r>
              <a:rPr lang="en-IN" sz="1000" dirty="0"/>
              <a:t>Natural disasters in APAC kill thousands yearly. The core issue isn't detection—satellites handle that. The issue is speed and coordination. Disaster response today is siloed: meteorologists forecast, planners allocate resources days later, responders in the field lack real-time intel, and lessons learned never feed back to prevention. Decision-to-action takes hours. By then, preventable lives are lost.</a:t>
            </a:r>
          </a:p>
          <a:p>
            <a:endParaRPr lang="en-IN" sz="1000" dirty="0"/>
          </a:p>
          <a:p>
            <a:r>
              <a:rPr lang="en-IN" sz="1000" b="1" dirty="0"/>
              <a:t>The Solution</a:t>
            </a:r>
            <a:endParaRPr lang="en-IN" sz="1000" dirty="0"/>
          </a:p>
          <a:p>
            <a:br>
              <a:rPr lang="en-IN" sz="1000" dirty="0"/>
            </a:br>
            <a:r>
              <a:rPr lang="en-IN" sz="1000" dirty="0"/>
              <a:t>TerraGrid is an AI-powered disaster intelligence platform that unifies response across four phases:</a:t>
            </a:r>
          </a:p>
          <a:p>
            <a:br>
              <a:rPr lang="en-IN" sz="1000" dirty="0"/>
            </a:br>
            <a:r>
              <a:rPr lang="en-IN" sz="1000" dirty="0"/>
              <a:t>1. </a:t>
            </a:r>
            <a:r>
              <a:rPr lang="en-IN" sz="1000" b="1" dirty="0"/>
              <a:t>**PREDICT**</a:t>
            </a:r>
            <a:r>
              <a:rPr lang="en-IN" sz="1000" dirty="0"/>
              <a:t> — 7-day forecast + infrastructure vulnerability identification</a:t>
            </a:r>
          </a:p>
          <a:p>
            <a:r>
              <a:rPr lang="en-IN" sz="1000" dirty="0"/>
              <a:t>2. </a:t>
            </a:r>
            <a:r>
              <a:rPr lang="en-IN" sz="1000" b="1" dirty="0"/>
              <a:t>**PREPARE**</a:t>
            </a:r>
            <a:r>
              <a:rPr lang="en-IN" sz="1000" dirty="0"/>
              <a:t> — AI impact analysis ("X buildings exposed, Y population at risk") + resource pre-positioning</a:t>
            </a:r>
          </a:p>
          <a:p>
            <a:r>
              <a:rPr lang="en-IN" sz="1000" dirty="0"/>
              <a:t>3. </a:t>
            </a:r>
            <a:r>
              <a:rPr lang="en-IN" sz="1000" b="1" dirty="0"/>
              <a:t>**RESPONSE**</a:t>
            </a:r>
            <a:r>
              <a:rPr lang="en-IN" sz="1000" dirty="0"/>
              <a:t> — Live incident dashboard + dynamic evacuation routing + multi-channel alerts</a:t>
            </a:r>
          </a:p>
          <a:p>
            <a:r>
              <a:rPr lang="en-IN" sz="1000" dirty="0"/>
              <a:t>4. </a:t>
            </a:r>
            <a:r>
              <a:rPr lang="en-IN" sz="1000" b="1" dirty="0"/>
              <a:t>**RECOVER**</a:t>
            </a:r>
            <a:r>
              <a:rPr lang="en-IN" sz="1000" dirty="0"/>
              <a:t> — Before/after damage assessment + lessons learned</a:t>
            </a:r>
          </a:p>
          <a:p>
            <a:br>
              <a:rPr lang="en-IN" sz="1000" dirty="0"/>
            </a:br>
            <a:endParaRPr lang="en-IN" sz="1000" dirty="0"/>
          </a:p>
          <a:p>
            <a:r>
              <a:rPr lang="en-IN" sz="1000" dirty="0"/>
              <a:t>Unlike point solutions (fire detection, earthquake dashboards), TerraGrid connects all four phases. Every decision is tracked—why it was made, what data informed it, whether it worked post-event. Responders don't just see data; they get AI recommendations: </a:t>
            </a:r>
            <a:r>
              <a:rPr lang="en-IN" sz="1000" i="1" dirty="0"/>
              <a:t>*"Route evac via Highway 3 (not Highway 1—flooded). This saves 15 min/person</a:t>
            </a:r>
            <a:r>
              <a:rPr lang="en-IN" sz="1100" i="1" dirty="0"/>
              <a:t>."*</a:t>
            </a:r>
            <a:endParaRPr lang="en-IN" sz="1100" dirty="0">
              <a:latin typeface="Consolas" panose="020B0609020204030204" pitchFamily="49" charset="0"/>
            </a:endParaRPr>
          </a:p>
          <a:p>
            <a:endParaRPr lang="en-IN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317602" y="578917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algn="l" rtl="0">
              <a:spcBef>
                <a:spcPts val="0"/>
              </a:spcBef>
              <a:spcAft>
                <a:spcPts val="0"/>
              </a:spcAft>
              <a:buSzPts val="1300"/>
            </a:pPr>
            <a:r>
              <a:rPr lang="en-GB" sz="1300" dirty="0"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>
              <a:buSzPts val="1300"/>
              <a:buFont typeface="Google Sans Flex"/>
              <a:buChar char="●"/>
            </a:pPr>
            <a:r>
              <a:rPr lang="en-GB" sz="1000" dirty="0">
                <a:latin typeface="+mj-lt"/>
                <a:ea typeface="Google Sans Flex"/>
                <a:cs typeface="Google Sans Flex"/>
                <a:sym typeface="Google Sans Flex"/>
              </a:rPr>
              <a:t>Current Market:• NASA/USGS dashboards → Fire/earthquake detection only (no response coordination)• Weather forecasting apps → Predict phase only (no action planning)• Emergency management platforms → Manual, slow decision-making• Routing apps (Google Maps) → General navigation (not disaster-specific optimization)TerraGrid:┌───────────────────┬─────────────────────────────────┬────────────────────────────────────────────────────┐│ Aspect            │ Others                          │ TerraGrid                                          │├───────────────────┼─────────────────────────────────┼────────────────────────────────────────────────────┤│ Scope             │ Single phase (usually RESPONSE) │ All 4 phases (PREDICT→PREPARE→RESPONSE→RECOVER)    │├───────────────────┼─────────────────────────────────┼────────────────────────────────────────────────────┤│ Intelligence      │ Shows data                      │ Recommends actions (AI-powered)                    │├───────────────────┼─────────────────────────────────┼────────────────────────────────────────────────────┤│ Decision Tracking │ Black box                       │ Full lineage + outcome validation                  │├───────────────────┼─────────────────────────────────┼────────────────────────────────────────────────────┤│ Real-time         │ Pre-computed scenarios          │ Live dynamic optimization                          │├───────────────────┼─────────────────────────────────┼────────────────────────────────────────────────────┤│ Integration       │ Point solutions                 │ 7+ APIs unified in one platform                    │├───────────────────┼─────────────────────────────────┼────────────────────────────────────────────────────┤│ Field-Ready       │ Technical dashboards            │ Role-adaptive UI (meteorologist/planner/responder) │└───────────────────┴─────────────────────────────────┴────────────────────────────────────────────────────┘Why TerraGrid Stands </a:t>
            </a:r>
            <a:r>
              <a:rPr lang="en-GB" sz="1000" dirty="0" err="1">
                <a:latin typeface="+mj-lt"/>
                <a:ea typeface="Google Sans Flex"/>
                <a:cs typeface="Google Sans Flex"/>
                <a:sym typeface="Google Sans Flex"/>
              </a:rPr>
              <a:t>Alone:No</a:t>
            </a:r>
            <a:r>
              <a:rPr lang="en-GB" sz="1000" dirty="0">
                <a:latin typeface="+mj-lt"/>
                <a:ea typeface="Google Sans Flex"/>
                <a:cs typeface="Google Sans Flex"/>
                <a:sym typeface="Google Sans Flex"/>
              </a:rPr>
              <a:t> existing solution connects all four disaster phases + AI recommendations + decision lineage in one platform.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C762EECC-6483-BF04-C796-A41BB2217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>
            <a:extLst>
              <a:ext uri="{FF2B5EF4-FFF2-40B4-BE49-F238E27FC236}">
                <a16:creationId xmlns:a16="http://schemas.microsoft.com/office/drawing/2014/main" id="{B94EE4CA-01AC-9D55-9E0A-88F0895128E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>
            <a:extLst>
              <a:ext uri="{FF2B5EF4-FFF2-40B4-BE49-F238E27FC236}">
                <a16:creationId xmlns:a16="http://schemas.microsoft.com/office/drawing/2014/main" id="{B8E24146-7543-98BD-9587-15EEAC9B5F2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49C01654-834B-ABBD-BD46-71D16624A432}"/>
              </a:ext>
            </a:extLst>
          </p:cNvPr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>
            <a:extLst>
              <a:ext uri="{FF2B5EF4-FFF2-40B4-BE49-F238E27FC236}">
                <a16:creationId xmlns:a16="http://schemas.microsoft.com/office/drawing/2014/main" id="{BB05B7D0-2989-16DB-A915-735B6423FE94}"/>
              </a:ext>
            </a:extLst>
          </p:cNvPr>
          <p:cNvSpPr txBox="1"/>
          <p:nvPr/>
        </p:nvSpPr>
        <p:spPr>
          <a:xfrm>
            <a:off x="317602" y="578917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>
              <a:buSzPts val="1300"/>
              <a:buFont typeface="Google Sans Flex"/>
              <a:buChar char="●"/>
            </a:pPr>
            <a:r>
              <a:rPr lang="en-US" sz="1300" dirty="0"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>
              <a:buSzPts val="1300"/>
              <a:buFont typeface="Google Sans Flex"/>
              <a:buChar char="●"/>
            </a:pPr>
            <a:r>
              <a:rPr lang="en-GB" sz="1300" dirty="0">
                <a:latin typeface="Google Sans Flex"/>
                <a:ea typeface="Google Sans Flex"/>
                <a:cs typeface="Google Sans Flex"/>
                <a:sym typeface="Google Sans Flex"/>
              </a:rPr>
              <a:t>The Problem: Decision-to-action takes hours. Preventable lives are </a:t>
            </a:r>
            <a:r>
              <a:rPr lang="en-GB" sz="1300" dirty="0" err="1">
                <a:latin typeface="Google Sans Flex"/>
                <a:ea typeface="Google Sans Flex"/>
                <a:cs typeface="Google Sans Flex"/>
                <a:sym typeface="Google Sans Flex"/>
              </a:rPr>
              <a:t>lost.TerraGrid's</a:t>
            </a:r>
            <a:r>
              <a:rPr lang="en-GB" sz="1300" dirty="0">
                <a:latin typeface="Google Sans Flex"/>
                <a:ea typeface="Google Sans Flex"/>
                <a:cs typeface="Google Sans Flex"/>
                <a:sym typeface="Google Sans Flex"/>
              </a:rPr>
              <a:t> Solution </a:t>
            </a:r>
            <a:r>
              <a:rPr lang="en-GB" sz="1300" dirty="0" err="1">
                <a:latin typeface="Google Sans Flex"/>
                <a:ea typeface="Google Sans Flex"/>
                <a:cs typeface="Google Sans Flex"/>
                <a:sym typeface="Google Sans Flex"/>
              </a:rPr>
              <a:t>Path:PREDICT</a:t>
            </a:r>
            <a:r>
              <a:rPr lang="en-GB" sz="1300" dirty="0">
                <a:latin typeface="Google Sans Flex"/>
                <a:ea typeface="Google Sans Flex"/>
                <a:cs typeface="Google Sans Flex"/>
                <a:sym typeface="Google Sans Flex"/>
              </a:rPr>
              <a:t> (Early Warning)    ↓PREPARE (AI Impact Analysis + Resource Positioning)    ↓RESPONSE (Live Dashboard + AI-Optimized Routing + Instant Alerts)    ↓RECOVER (Outcome Validation + Lessons Learned)    ↓FEEDBACK LOOP → Improve next PREDICT </a:t>
            </a:r>
            <a:r>
              <a:rPr lang="en-GB" sz="1300" dirty="0" err="1">
                <a:latin typeface="Google Sans Flex"/>
                <a:ea typeface="Google Sans Flex"/>
                <a:cs typeface="Google Sans Flex"/>
                <a:sym typeface="Google Sans Flex"/>
              </a:rPr>
              <a:t>cycleHow</a:t>
            </a:r>
            <a:r>
              <a:rPr lang="en-GB" sz="1300" dirty="0">
                <a:latin typeface="Google Sans Flex"/>
                <a:ea typeface="Google Sans Flex"/>
                <a:cs typeface="Google Sans Flex"/>
                <a:sym typeface="Google Sans Flex"/>
              </a:rPr>
              <a:t> It Reduces Response Time:1. Before: Disaster detected → Wait for human analysis → Manual planning → Delayed alerts• Time: 2-4 hours ⚠️2. With TerraGrid: Disaster detected → AI instantly </a:t>
            </a:r>
            <a:r>
              <a:rPr lang="en-GB" sz="1300" dirty="0" err="1">
                <a:latin typeface="Google Sans Flex"/>
                <a:ea typeface="Google Sans Flex"/>
                <a:cs typeface="Google Sans Flex"/>
                <a:sym typeface="Google Sans Flex"/>
              </a:rPr>
              <a:t>analyzes</a:t>
            </a:r>
            <a:r>
              <a:rPr lang="en-GB" sz="1300" dirty="0">
                <a:latin typeface="Google Sans Flex"/>
                <a:ea typeface="Google Sans Flex"/>
                <a:cs typeface="Google Sans Flex"/>
                <a:sym typeface="Google Sans Flex"/>
              </a:rPr>
              <a:t> impact → Recommends actions → Alerts broadcast• Time: 2-5 minutes ✅Key Mechanisms:• ✅ Real-time Multi-Source Intelligence: 7 APIs auto-ingested; no manual data gathering• ✅ AI Decision Support: Vertex AI + Gemini recommends where/how to evacuate, where to stage resources• ✅ Dynamic Route Optimization: OR-Tools recalculates evacuation routes every 30 sec based on current hazard extent• ✅ Multi-Channel Alerts: SMS + Email reach vulnerable populations instantly with personalized guidance• ✅ Decision Lineage: Every recommendation logged—responders see "why" and can validate post-</a:t>
            </a:r>
            <a:r>
              <a:rPr lang="en-GB" sz="1300" dirty="0" err="1">
                <a:latin typeface="Google Sans Flex"/>
                <a:ea typeface="Google Sans Flex"/>
                <a:cs typeface="Google Sans Flex"/>
                <a:sym typeface="Google Sans Flex"/>
              </a:rPr>
              <a:t>eventResult</a:t>
            </a:r>
            <a:r>
              <a:rPr lang="en-GB" sz="1300" dirty="0">
                <a:latin typeface="Google Sans Flex"/>
                <a:ea typeface="Google Sans Flex"/>
                <a:cs typeface="Google Sans Flex"/>
                <a:sym typeface="Google Sans Flex"/>
              </a:rPr>
              <a:t>: From "detect disaster" → "coordinate response" in minutes, not hours.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  <p:extLst>
      <p:ext uri="{BB962C8B-B14F-4D97-AF65-F5344CB8AC3E}">
        <p14:creationId xmlns:p14="http://schemas.microsoft.com/office/powerpoint/2010/main" val="2390917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538C6F0E-05B1-5E11-B4DA-3D56BED6B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>
            <a:extLst>
              <a:ext uri="{FF2B5EF4-FFF2-40B4-BE49-F238E27FC236}">
                <a16:creationId xmlns:a16="http://schemas.microsoft.com/office/drawing/2014/main" id="{3A60DF42-C91B-5A0C-5966-F48F503BF7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>
            <a:extLst>
              <a:ext uri="{FF2B5EF4-FFF2-40B4-BE49-F238E27FC236}">
                <a16:creationId xmlns:a16="http://schemas.microsoft.com/office/drawing/2014/main" id="{676695C4-3C5E-7171-A17C-8DEEF7DEA84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F9AE4601-5F1E-A405-F71B-43E571910428}"/>
              </a:ext>
            </a:extLst>
          </p:cNvPr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>
            <a:extLst>
              <a:ext uri="{FF2B5EF4-FFF2-40B4-BE49-F238E27FC236}">
                <a16:creationId xmlns:a16="http://schemas.microsoft.com/office/drawing/2014/main" id="{9D4022F3-E4A1-3B2F-048D-E8A487EB547F}"/>
              </a:ext>
            </a:extLst>
          </p:cNvPr>
          <p:cNvSpPr txBox="1"/>
          <p:nvPr/>
        </p:nvSpPr>
        <p:spPr>
          <a:xfrm>
            <a:off x="317602" y="578917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>
              <a:buSzPts val="1300"/>
              <a:buFont typeface="Google Sans Flex"/>
              <a:buChar char="●"/>
            </a:pPr>
            <a:r>
              <a:rPr lang="en-US" sz="1300" dirty="0"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>
              <a:buSzPts val="1300"/>
              <a:buFont typeface="Google Sans Flex"/>
              <a:buChar char="●"/>
            </a:pPr>
            <a:r>
              <a:rPr lang="en-GB" sz="1100" dirty="0">
                <a:latin typeface="+mj-lt"/>
                <a:ea typeface="Google Sans Flex"/>
                <a:cs typeface="Google Sans Flex"/>
                <a:sym typeface="Google Sans Flex"/>
              </a:rPr>
              <a:t>What makes TerraGrid </a:t>
            </a:r>
            <a:r>
              <a:rPr lang="en-GB" sz="1100" dirty="0" err="1">
                <a:latin typeface="+mj-lt"/>
                <a:ea typeface="Google Sans Flex"/>
                <a:cs typeface="Google Sans Flex"/>
                <a:sym typeface="Google Sans Flex"/>
              </a:rPr>
              <a:t>different?USP</a:t>
            </a:r>
            <a:r>
              <a:rPr lang="en-GB" sz="1100" dirty="0">
                <a:latin typeface="+mj-lt"/>
                <a:ea typeface="Google Sans Flex"/>
                <a:cs typeface="Google Sans Flex"/>
                <a:sym typeface="Google Sans Flex"/>
              </a:rPr>
              <a:t> #1: Full Lifecycle Integration• ❌ Others: "We detect disasters"• ✅ TerraGrid: "We detect → </a:t>
            </a:r>
            <a:r>
              <a:rPr lang="en-GB" sz="1100" dirty="0" err="1">
                <a:latin typeface="+mj-lt"/>
                <a:ea typeface="Google Sans Flex"/>
                <a:cs typeface="Google Sans Flex"/>
                <a:sym typeface="Google Sans Flex"/>
              </a:rPr>
              <a:t>analyze</a:t>
            </a:r>
            <a:r>
              <a:rPr lang="en-GB" sz="1100" dirty="0">
                <a:latin typeface="+mj-lt"/>
                <a:ea typeface="Google Sans Flex"/>
                <a:cs typeface="Google Sans Flex"/>
                <a:sym typeface="Google Sans Flex"/>
              </a:rPr>
              <a:t> → optimize response → learn → prevent"• Unique: Only platform with all 4 phases + closed feedback </a:t>
            </a:r>
            <a:r>
              <a:rPr lang="en-GB" sz="1100" dirty="0" err="1">
                <a:latin typeface="+mj-lt"/>
                <a:ea typeface="Google Sans Flex"/>
                <a:cs typeface="Google Sans Flex"/>
                <a:sym typeface="Google Sans Flex"/>
              </a:rPr>
              <a:t>loopUSP</a:t>
            </a:r>
            <a:r>
              <a:rPr lang="en-GB" sz="1100" dirty="0">
                <a:latin typeface="+mj-lt"/>
                <a:ea typeface="Google Sans Flex"/>
                <a:cs typeface="Google Sans Flex"/>
                <a:sym typeface="Google Sans Flex"/>
              </a:rPr>
              <a:t> #2: AI That Actually Recommends (Not Just Shows)• ❌ Others: Dashboard shows fire extent• ✅ TerraGrid: "Deploy 15 mobile clinics to zones B, C, F. Evacuate via Highway 3. This saves 15 min/person."• Unique: Actionable AI, not just data </a:t>
            </a:r>
            <a:r>
              <a:rPr lang="en-GB" sz="1100" dirty="0" err="1">
                <a:latin typeface="+mj-lt"/>
                <a:ea typeface="Google Sans Flex"/>
                <a:cs typeface="Google Sans Flex"/>
                <a:sym typeface="Google Sans Flex"/>
              </a:rPr>
              <a:t>visualizationUSP</a:t>
            </a:r>
            <a:r>
              <a:rPr lang="en-GB" sz="1100" dirty="0">
                <a:latin typeface="+mj-lt"/>
                <a:ea typeface="Google Sans Flex"/>
                <a:cs typeface="Google Sans Flex"/>
                <a:sym typeface="Google Sans Flex"/>
              </a:rPr>
              <a:t> #3: Reproducible Decision Lineage• ❌ Others: "We sent an alert"• ✅ TerraGrid: "We sent alert based on [data]. Post-event validation: prediction was 92% accurate."• Unique: Teams learn from every disaster; improvement is </a:t>
            </a:r>
            <a:r>
              <a:rPr lang="en-GB" sz="1100" dirty="0" err="1">
                <a:latin typeface="+mj-lt"/>
                <a:ea typeface="Google Sans Flex"/>
                <a:cs typeface="Google Sans Flex"/>
                <a:sym typeface="Google Sans Flex"/>
              </a:rPr>
              <a:t>measurableUSP</a:t>
            </a:r>
            <a:r>
              <a:rPr lang="en-GB" sz="1100" dirty="0">
                <a:latin typeface="+mj-lt"/>
                <a:ea typeface="Google Sans Flex"/>
                <a:cs typeface="Google Sans Flex"/>
                <a:sym typeface="Google Sans Flex"/>
              </a:rPr>
              <a:t> #4: Real-Time Dynamic Optimization• ❌ Others: Static routes, pre-planned scenarios• ✅ TerraGrid: Routes recalculate every 30 sec as hazard extent changes• Unique: Responders always have latest info, not yesterday's </a:t>
            </a:r>
            <a:r>
              <a:rPr lang="en-GB" sz="1100" dirty="0" err="1">
                <a:latin typeface="+mj-lt"/>
                <a:ea typeface="Google Sans Flex"/>
                <a:cs typeface="Google Sans Flex"/>
                <a:sym typeface="Google Sans Flex"/>
              </a:rPr>
              <a:t>planUSP</a:t>
            </a:r>
            <a:r>
              <a:rPr lang="en-GB" sz="1100" dirty="0">
                <a:latin typeface="+mj-lt"/>
                <a:ea typeface="Google Sans Flex"/>
                <a:cs typeface="Google Sans Flex"/>
                <a:sym typeface="Google Sans Flex"/>
              </a:rPr>
              <a:t> #5: Role-Adaptive Intelligence• ❌ Others: Complex dashboards (meteorologist-centric)• ✅ TerraGrid: Each role sees their phase (meteorologist sees PREDICT, planner sees PREPARE, responder sees RESPONSE)• Unique: No learning curve; intuitive for diverse </a:t>
            </a:r>
            <a:r>
              <a:rPr lang="en-GB" sz="1100" dirty="0" err="1">
                <a:latin typeface="+mj-lt"/>
                <a:ea typeface="Google Sans Flex"/>
                <a:cs typeface="Google Sans Flex"/>
                <a:sym typeface="Google Sans Flex"/>
              </a:rPr>
              <a:t>teamsUSP</a:t>
            </a:r>
            <a:r>
              <a:rPr lang="en-GB" sz="1100" dirty="0">
                <a:latin typeface="+mj-lt"/>
                <a:ea typeface="Google Sans Flex"/>
                <a:cs typeface="Google Sans Flex"/>
                <a:sym typeface="Google Sans Flex"/>
              </a:rPr>
              <a:t> #6: Built on Google Cloud Native Stack• ❌ Others: Custom geospatial processing (slow, expensive)• ✅ TerraGrid: Vertex AI + Earth Engine + OR-Tools + Cloud Run (fast, scalable, proof-of-concept ready)• Unique: Leverages Google's infrastructure; production-ready out-of-box────────────────────Quick Comparison Table:┌────────────────────────┬────────────────────┬───────────┐│ Feature                │ Existing Solutions │ TerraGrid │├────────────────────────┼────────────────────┼───────────┤│ All 4 phases connected │ ❌ No              │ ✅ Yes    │├────────────────────────┼────────────────────┼───────────┤│ AI recommendations     │ ❌ No              │ ✅ Yes    │├────────────────────────┼────────────────────┼───────────┤│ Decision lineage       │ ❌ No              │ ✅ Yes    │├────────────────────────┼────────────────────┼───────────┤│ Real-time optimization │ ❌ No              │ ✅ Yes    │├────────────────────────┼────────────────────┼───────────┤│ Multi-role interface   │ ❌ No              │ ✅ Yes    │├────────────────────────┼────────────────────┼───────────┤│ Field-ready            │ ❌ No              │ ✅ Yes    │├────────────────────────┼────────────────────┼───────────┤│ Google Cloud native    │ ❌ No              │ ✅ Yes    │└────────────────────────┴────────────────────┴───────────┘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endParaRPr lang="en-GB"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  <p:extLst>
      <p:ext uri="{BB962C8B-B14F-4D97-AF65-F5344CB8AC3E}">
        <p14:creationId xmlns:p14="http://schemas.microsoft.com/office/powerpoint/2010/main" val="477336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265350" y="1180000"/>
            <a:ext cx="8613300" cy="3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1E8E3E"/>
                </a:solidFill>
                <a:latin typeface="Google Sans Flex Medium"/>
              </a:rPr>
              <a:t>LIVE IN PROTOTYPE — RESPONSE phase (92% shipped)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Google Sans Flex"/>
              </a:rPr>
              <a:t>•  Live multi-hazard incident dashboard (earthquake, volcano, wildfire, storm, flood) with threat scoring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Google Sans Flex"/>
              </a:rPr>
              <a:t>•  AI Decision Support (Gemini 2.5 Flash): response plans, preparedness actions, agency alert drafts, deep dossiers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Google Sans Flex"/>
              </a:rPr>
              <a:t>•  Evacuation route pre-calculation (OSRM road-network routing, geodesic fallback on failure)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Google Sans Flex"/>
              </a:rPr>
              <a:t>•  Live infrastructure mapping — hospitals, fire stations, schools, power, bridges (OpenStreetMap/Overpass)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Google Sans Flex"/>
              </a:rPr>
              <a:t>•  Satellite cross-validation + Sentinel-1 SAR flood detection (Google Earth Engine)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Google Sans Flex"/>
              </a:rPr>
              <a:t>•  Multi-channel alerting — WhatsApp (WAHA) and email (Resend), per-audience templates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Google Sans Flex"/>
              </a:rPr>
              <a:t>•  Decision lineage / audit trail and real-time WebSocket dashboard updates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1E8E3E"/>
                </a:solidFill>
                <a:latin typeface="Google Sans Flex Medium"/>
              </a:rPr>
              <a:t>LIVE IN PROTOTYPE — PREPARE phase (89% shipped)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Google Sans Flex"/>
              </a:rPr>
              <a:t>•  7-day risk escalation forecast across 8 monitored cities (OpenWeatherMap)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Google Sans Flex"/>
              </a:rPr>
              <a:t>•  Risk Escalation Timeline — day-by-day confidence %, per city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Google Sans Flex"/>
              </a:rPr>
              <a:t>•  AI-generated Preparedness Checklist with per-agency task assignment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Google Sans Flex"/>
              </a:rPr>
              <a:t>•  Agency Alert Templates — tone adapted per audience (farmers, hospitals, NGOs, municipal corps)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Google Sans Flex"/>
              </a:rPr>
              <a:t>•  Source of Truth indicator — flags degraded/stale data instead of hiding it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1857B8"/>
                </a:solidFill>
                <a:latin typeface="Google Sans Flex Medium"/>
              </a:rPr>
              <a:t>PLATFORM-WIDE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Google Sans Flex"/>
              </a:rPr>
              <a:t>•  Raw data cross-check logging — every external API + Gemini response saved to disk, folder-wise, for audit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Google Sans Flex"/>
              </a:rPr>
              <a:t>•  Resilient data fetch — automatic retry + backoff and graceful fallback on source failure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B86E00"/>
                </a:solidFill>
                <a:latin typeface="Google Sans Flex Medium"/>
              </a:rPr>
              <a:t>ROADMAP — not yet built (shown honestly, not demoed)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Google Sans Flex"/>
              </a:rPr>
              <a:t>•  PREDICT phase (0/8 features) — ENSO monitoring, seasonal rainfall outlook, climate signal dashboard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Google Sans Flex"/>
              </a:rPr>
              <a:t>•  RECOVER phase (0/11 features) — before/after damage assessment, recovery milestone tracking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265350" y="1150000"/>
            <a:ext cx="8613300" cy="39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100" b="1" i="0">
                <a:solidFill>
                  <a:srgbClr val="1A1A1A"/>
                </a:solidFill>
                <a:latin typeface="Google Sans Flex Medium"/>
              </a:rPr>
              <a:t>How an incident moves through TerraGrid today</a:t>
            </a:r>
          </a:p>
          <a:p>
            <a:pPr>
              <a:lnSpc>
                <a:spcPct val="88000"/>
              </a:lnSpc>
              <a:spcBef>
                <a:spcPts val="100"/>
              </a:spcBef>
            </a:pPr>
            <a:r>
              <a:rPr sz="680" b="0" i="0">
                <a:solidFill>
                  <a:srgbClr val="1A1A1A"/>
                </a:solidFill>
                <a:latin typeface="Courier New"/>
              </a:rPr>
              <a:t>┌────────────────────────┐   ┌───────────────────────────────┐   ┌──────────────────────────┐
│ EXTERNAL SOURCES         │─▶│ 1. DATA INGESTION                │─▶│ Incident record (PostgreSQL)│
│ NASA EONET·USGS·NOAA·    │  │ Async poll + OSM infra lookup    │  └──────────────────────────┘
│ GDACS·OpenWeatherMap     │  └───────────────────────────────┘
└────────────────────────┘
┌───────────────────────────────┐   Risk Escalation Timeline, Preparedness
│ 2. PREPARE PHASE                 │─▶ Checklist, Agency Alert drafts
│ 7-day forecast + AI Decision     │
│ Support (Gemini 2.5 Flash)       │
└───────────────────────────────┘
┌───────────────────────────────┐   Dispatch recommendation, evac route
│ 3. RESPONSE PHASE                 │─▶ (OSRM), WhatsApp / Email alert sent
│ Live dashboard + evac routing     │
│ + satellite cross-validation      │
└───────────────────────────────┘
┌───────────────────────────────┐   Raw API + Gemini response saved to
│ 4. AUDIT TRAIL (every step)       │─▶ logs/ as a JSON envelope, folder
│ data_logger.py cross-check        │   per source
└───────────────────────────────┘
</a:t>
            </a:r>
          </a:p>
          <a:p>
            <a:pPr>
              <a:spcBef>
                <a:spcPts val="800"/>
              </a:spcBef>
            </a:pPr>
            <a:r>
              <a:rPr sz="900" b="0" i="1">
                <a:solidFill>
                  <a:srgbClr val="B86E00"/>
                </a:solidFill>
                <a:latin typeface="Google Sans Flex"/>
              </a:rPr>
              <a:t>PREDICT (6-month early warning) and RECOVER (post-event damage assessment) are the next two phases on the roadmap — not part of this flow yet.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265350" y="1180000"/>
            <a:ext cx="8613300" cy="3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 i="0">
                <a:solidFill>
                  <a:srgbClr val="1A1A1A"/>
                </a:solidFill>
                <a:latin typeface="Google Sans Flex Medium"/>
              </a:rPr>
              <a:t>System Architecture (verified against the running codebase)</a:t>
            </a:r>
          </a:p>
          <a:p>
            <a:pPr>
              <a:lnSpc>
                <a:spcPct val="92000"/>
              </a:lnSpc>
              <a:spcBef>
                <a:spcPts val="400"/>
              </a:spcBef>
            </a:pPr>
            <a:r>
              <a:rPr sz="700" b="0" i="0">
                <a:solidFill>
                  <a:srgbClr val="1A1A1A"/>
                </a:solidFill>
                <a:latin typeface="Courier New"/>
              </a:rPr>
              <a:t>┌───────────────────────┐   ┌─────────────────────────────┐   ┌───────────────────────────┐
│   DATA SOURCES          │   │  BACKEND — FastAPI, Python 3.13 │   │ FRONTEND — Vue 3 + Vite     │
│   NASA EONET · USGS     │──▶│  PostgreSQL (SQLAlchemy+Alembic)│──▶│ Pinia · Vue Router          │
│   NOAA · GDACS           │   │  APScheduler background polling │   │ Mapbox GL live map          │
│   OpenWeatherMap         │   │  WebSocket server (/ws/dashboard)│   │ WebSocket live updates      │
│   OpenStreetMap/Overpass │   └───────────────┬──────────────────┘   │ i18n · mobile-responsive    │
│   OSRM routing           │                   ▼                      └───────────────────────────┘
└───────────────────────┘   ┌─────────────────────────────┐
                              │  AI LAYER                      │   ┌───────────────────────────┐
                              │  Vertex AI — Gemini 2.5 Flash  │──▶│  ALERTING                   │
                              │  Google Earth Engine(Sentinel-1)│   │  WhatsApp (WAHA)            │
                              │  Decision lineage / audit trail │   │  Email (Resend)              │
                              └─────────────────────────────┘   └───────────────────────────┘
TRACEABILITY: every external API call and every Gemini response is written to
logs/data/&lt;source&gt;/ as a timestamped JSON envelope — a cross-check trail, not just a log line.
</a:t>
            </a:r>
          </a:p>
          <a:p>
            <a:pPr>
              <a:spcBef>
                <a:spcPts val="600"/>
              </a:spcBef>
            </a:pPr>
            <a:r>
              <a:rPr sz="900" b="0" i="1">
                <a:solidFill>
                  <a:srgbClr val="5F5F5F"/>
                </a:solidFill>
                <a:latin typeface="Google Sans Flex"/>
              </a:rPr>
              <a:t>Deployment target: Google Cloud Run (backend) with Docker + GitHub Actions CI. Not yet deployed to production at submission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265350" y="1180000"/>
            <a:ext cx="8613300" cy="3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900" b="1" i="0">
                <a:solidFill>
                  <a:srgbClr val="1A1A1A"/>
                </a:solidFill>
                <a:latin typeface="Google Sans Flex"/>
              </a:rPr>
              <a:t>Languages:  </a:t>
            </a:r>
            <a:r>
              <a:rPr sz="900" b="0" i="0">
                <a:solidFill>
                  <a:srgbClr val="1A1A1A"/>
                </a:solidFill>
                <a:latin typeface="Google Sans Flex"/>
              </a:rPr>
              <a:t>Python 3.13, TypeScript / JavaScript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900" b="1" i="0">
                <a:solidFill>
                  <a:srgbClr val="1A1A1A"/>
                </a:solidFill>
                <a:latin typeface="Google Sans Flex"/>
              </a:rPr>
              <a:t>Backend:  </a:t>
            </a:r>
            <a:r>
              <a:rPr sz="900" b="0" i="0">
                <a:solidFill>
                  <a:srgbClr val="1A1A1A"/>
                </a:solidFill>
                <a:latin typeface="Google Sans Flex"/>
              </a:rPr>
              <a:t>FastAPI, Pydantic, SQLAlchemy + Alembic, APScheduler, websockets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900" b="1" i="0">
                <a:solidFill>
                  <a:srgbClr val="1A1A1A"/>
                </a:solidFill>
                <a:latin typeface="Google Sans Flex"/>
              </a:rPr>
              <a:t>Database:  </a:t>
            </a:r>
            <a:r>
              <a:rPr sz="900" b="0" i="0">
                <a:solidFill>
                  <a:srgbClr val="1A1A1A"/>
                </a:solidFill>
                <a:latin typeface="Google Sans Flex"/>
              </a:rPr>
              <a:t>PostgreSQL (psycopg2)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900" b="1" i="0">
                <a:solidFill>
                  <a:srgbClr val="1A1A1A"/>
                </a:solidFill>
                <a:latin typeface="Google Sans Flex"/>
              </a:rPr>
              <a:t>Frontend:  </a:t>
            </a:r>
            <a:r>
              <a:rPr sz="900" b="0" i="0">
                <a:solidFill>
                  <a:srgbClr val="1A1A1A"/>
                </a:solidFill>
                <a:latin typeface="Google Sans Flex"/>
              </a:rPr>
              <a:t>Vue 3, Vite, Pinia, Vue Router, vue-i18n, Mapbox GL JS, Axios, Tailwind CSS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900" b="1" i="0">
                <a:solidFill>
                  <a:srgbClr val="1A1A1A"/>
                </a:solidFill>
                <a:latin typeface="Google Sans Flex"/>
              </a:rPr>
              <a:t>Google Cloud / AI:  </a:t>
            </a:r>
            <a:r>
              <a:rPr sz="900" b="0" i="0">
                <a:solidFill>
                  <a:srgbClr val="1A1A1A"/>
                </a:solidFill>
                <a:latin typeface="Google Sans Flex"/>
              </a:rPr>
              <a:t>Vertex AI (Gemini 2.5 Flash), Google Earth Engine, Cloud Storage, Secret Manager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900" b="1" i="0">
                <a:solidFill>
                  <a:srgbClr val="1A1A1A"/>
                </a:solidFill>
                <a:latin typeface="Google Sans Flex"/>
              </a:rPr>
              <a:t>External data APIs:  </a:t>
            </a:r>
            <a:r>
              <a:rPr sz="900" b="0" i="0">
                <a:solidFill>
                  <a:srgbClr val="1A1A1A"/>
                </a:solidFill>
                <a:latin typeface="Google Sans Flex"/>
              </a:rPr>
              <a:t>NASA EONET, USGS Earthquake, NOAA, GDACS, OpenWeatherMap, OpenStreetMap / Overpass, OSRM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900" b="1" i="0">
                <a:solidFill>
                  <a:srgbClr val="1A1A1A"/>
                </a:solidFill>
                <a:latin typeface="Google Sans Flex"/>
              </a:rPr>
              <a:t>Alerting:  </a:t>
            </a:r>
            <a:r>
              <a:rPr sz="900" b="0" i="0">
                <a:solidFill>
                  <a:srgbClr val="1A1A1A"/>
                </a:solidFill>
                <a:latin typeface="Google Sans Flex"/>
              </a:rPr>
              <a:t>WAHA (WhatsApp), Resend (email)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900" b="1" i="0">
                <a:solidFill>
                  <a:srgbClr val="1A1A1A"/>
                </a:solidFill>
                <a:latin typeface="Google Sans Flex"/>
              </a:rPr>
              <a:t>DevOps:  </a:t>
            </a:r>
            <a:r>
              <a:rPr sz="900" b="0" i="0">
                <a:solidFill>
                  <a:srgbClr val="1A1A1A"/>
                </a:solidFill>
                <a:latin typeface="Google Sans Flex"/>
              </a:rPr>
              <a:t>Docker, Docker Compose, GitHub Actions CI, pytest</a:t>
            </a:r>
          </a:p>
          <a:p>
            <a:pPr>
              <a:spcBef>
                <a:spcPts val="800"/>
              </a:spcBef>
            </a:pPr>
            <a:r>
              <a:rPr sz="850" b="0" i="1">
                <a:solidFill>
                  <a:srgbClr val="5F5F5F"/>
                </a:solidFill>
                <a:latin typeface="Google Sans Flex"/>
              </a:rPr>
              <a:t>Note: Redis and Google Cloud Pub/Sub are present in the codebase but not actively wired into the running prototype at submission time — listed here for transparency, not counted as shipped features.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a217bfd-7fc6-4e23-babe-07368f99370d}" enabled="1" method="Standard" siteId="{fda9decf-e892-43ac-9d9f-1a493f9f98d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1163</Words>
  <Application>Microsoft Office PowerPoint</Application>
  <PresentationFormat>On-screen Show (16:9)</PresentationFormat>
  <Paragraphs>105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Google Sans Flex SemiBold</vt:lpstr>
      <vt:lpstr>Google Sans Flex Medium</vt:lpstr>
      <vt:lpstr>Google Sans Flex</vt:lpstr>
      <vt:lpstr>Arial</vt:lpstr>
      <vt:lpstr>Consolas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Shinde, Sandesh - [Magellan]</cp:lastModifiedBy>
  <cp:revision>8</cp:revision>
  <dcterms:modified xsi:type="dcterms:W3CDTF">2026-10-13T16:16:50Z</dcterms:modified>
</cp:coreProperties>
</file>